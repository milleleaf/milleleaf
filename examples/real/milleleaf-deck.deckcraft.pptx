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2192000" cy="6858000"/>
  <p:notesSz cx="6858000" cy="9144000"/>
  <p:defaultTextStyle>
    <a:lvl1pPr marL="0" algn="l">
      <a:defRPr sz="1800" kern="1200">
        <a:solidFill>
          <a:schemeClr val="tx1"/>
        </a:solidFill>
        <a:latin typeface="+mn-lt"/>
      </a:defRPr>
    </a:lvl1pPr>
    <a:lvl2pPr marL="457200" algn="l">
      <a:defRPr sz="1800" kern="1200">
        <a:solidFill>
          <a:schemeClr val="tx1"/>
        </a:solidFill>
        <a:latin typeface="+mn-lt"/>
      </a:defRPr>
    </a:lvl2pPr>
    <a:lvl3pPr marL="914400" algn="l">
      <a:defRPr sz="1800" kern="1200">
        <a:solidFill>
          <a:schemeClr val="tx1"/>
        </a:solidFill>
        <a:latin typeface="+mn-lt"/>
      </a:defRPr>
    </a:lvl3pPr>
    <a:lvl4pPr marL="1371600" algn="l">
      <a:defRPr sz="1800" kern="1200">
        <a:solidFill>
          <a:schemeClr val="tx1"/>
        </a:solidFill>
        <a:latin typeface="+mn-lt"/>
      </a:defRPr>
    </a:lvl4pPr>
    <a:lvl5pPr marL="1828800" algn="l">
      <a:defRPr sz="1800" kern="1200">
        <a:solidFill>
          <a:schemeClr val="tx1"/>
        </a:solidFill>
        <a:latin typeface="+mn-lt"/>
      </a:defRPr>
    </a:lvl5pPr>
    <a:lvl6pPr marL="2286000" algn="l">
      <a:defRPr sz="1800" kern="1200">
        <a:solidFill>
          <a:schemeClr val="tx1"/>
        </a:solidFill>
        <a:latin typeface="+mn-lt"/>
      </a:defRPr>
    </a:lvl6pPr>
    <a:lvl7pPr marL="2743200" algn="l">
      <a:defRPr sz="1800" kern="1200">
        <a:solidFill>
          <a:schemeClr val="tx1"/>
        </a:solidFill>
        <a:latin typeface="+mn-lt"/>
      </a:defRPr>
    </a:lvl7pPr>
    <a:lvl8pPr marL="3200400" algn="l">
      <a:defRPr sz="1800" kern="1200">
        <a:solidFill>
          <a:schemeClr val="tx1"/>
        </a:solidFill>
        <a:latin typeface="+mn-lt"/>
      </a:defRPr>
    </a:lvl8pPr>
    <a:lvl9pPr marL="3657600" algn="l">
      <a:defRPr sz="1800" kern="1200">
        <a:solidFill>
          <a:schemeClr val="tx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theme" Target="theme/theme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8940" cy="4572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09060" y="0"/>
            <a:ext cx="2948940" cy="4572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 3"/>
          <p:cNvSpPr>
            <a:spLocks noGrp="1"/>
          </p:cNvSpPr>
          <p:nvPr>
            <p:ph type="sldImg" idx="2"/>
          </p:nvPr>
        </p:nvSpPr>
        <p:spPr>
          <a:xfrm>
            <a:off x="857250" y="1143000"/>
            <a:ext cx="5143500" cy="3429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846320"/>
            <a:ext cx="5486400" cy="3291840"/>
          </a:xfrm>
          <a:prstGeom prst="rect">
            <a:avLst/>
          </a:prstGeom>
        </p:spPr>
        <p:txBody>
          <a:bodyPr/>
          <a:lstStyle/>
          <a:p>
            <a:r>
              <a:rPr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6800"/>
            <a:ext cx="2948940" cy="4572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9060" y="8686800"/>
            <a:ext cx="2948940" cy="457200"/>
          </a:xfrm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  <a:lvl2pPr marL="457200" algn="l">
      <a:defRPr sz="1200">
        <a:solidFill>
          <a:schemeClr val="tx1"/>
        </a:solidFill>
        <a:latin typeface="+mn-lt"/>
      </a:defRPr>
    </a:lvl2pPr>
    <a:lvl3pPr marL="914400" algn="l">
      <a:defRPr sz="1200">
        <a:solidFill>
          <a:schemeClr val="tx1"/>
        </a:solidFill>
        <a:latin typeface="+mn-lt"/>
      </a:defRPr>
    </a:lvl3pPr>
    <a:lvl4pPr marL="1371600" algn="l">
      <a:defRPr sz="1200">
        <a:solidFill>
          <a:schemeClr val="tx1"/>
        </a:solidFill>
        <a:latin typeface="+mn-lt"/>
      </a:defRPr>
    </a:lvl4pPr>
    <a:lvl5pPr marL="1828800" algn="l">
      <a:defRPr sz="1200">
        <a:solidFill>
          <a:schemeClr val="tx1"/>
        </a:solidFill>
        <a:latin typeface="+mn-lt"/>
      </a:defRPr>
    </a:lvl5pPr>
    <a:lvl6pPr marL="2286000" algn="l">
      <a:defRPr sz="1200">
        <a:solidFill>
          <a:schemeClr val="tx1"/>
        </a:solidFill>
        <a:latin typeface="+mn-lt"/>
      </a:defRPr>
    </a:lvl6pPr>
    <a:lvl7pPr marL="2743200" algn="l">
      <a:defRPr sz="1200">
        <a:solidFill>
          <a:schemeClr val="tx1"/>
        </a:solidFill>
        <a:latin typeface="+mn-lt"/>
      </a:defRPr>
    </a:lvl7pPr>
    <a:lvl8pPr marL="3200400" algn="l">
      <a:defRPr sz="1200">
        <a:solidFill>
          <a:schemeClr val="tx1"/>
        </a:solidFill>
        <a:latin typeface="+mn-lt"/>
      </a:defRPr>
    </a:lvl8pPr>
    <a:lvl9pPr marL="3657600" algn="l">
      <a:defRPr sz="1200">
        <a:solidFill>
          <a:schemeClr val="tx1"/>
        </a:solidFill>
        <a:latin typeface="+mn-lt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Open with what Milleleaf is for: office files that keep their history, whichever app edits them.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Walk through the three promises; the second-level bullets are the detail.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The table is the point: merged cells span the app columns.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Each arrow is a connector attached to the boxes it joins.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Bars count round trips; the line shows losses falling as they were fixed.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The pie is the mix of formats; the combo puts both measures on one chart.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This picture is cropped on purpose: the crop must survive.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A plain table, no merges, for comparison with slide 3.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End on the contact address and a way back to the start.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1524000" y="1117600"/>
            <a:ext cx="9144000" cy="2387600"/>
          </a:xfrm>
          <a:prstGeom prst="rect">
            <a:avLst/>
          </a:prstGeom>
        </p:spPr>
        <p:txBody>
          <a:bodyPr anchor="b">
            <a:normAutofit fontScale="100000"/>
          </a:bodyPr>
          <a:lstStyle>
            <a:lvl1pPr algn="ctr">
              <a:defRPr sz="6000"/>
            </a:lvl1pPr>
          </a:lstStyle>
          <a:p/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1524000" y="3606800"/>
            <a:ext cx="9144000" cy="1651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 algn="ctr">
              <a:buNone/>
              <a:defRPr sz="2400"/>
            </a:lvl1pPr>
          </a:lstStyle>
          <a:p/>
        </p:txBody>
      </p:sp>
      <p:sp>
        <p:nvSpPr>
          <p:cNvPr id="9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0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1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C6D5D-A00E-4AA9-84F2-364CBECE0EEA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15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6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7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D0F9E-EF7E-4C26-8662-25A73F2263DD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825500" y="1714500"/>
            <a:ext cx="10541000" cy="28575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/>
        </p:txBody>
      </p:sp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>
          <a:xfrm>
            <a:off x="825500" y="4597400"/>
            <a:ext cx="10541000" cy="14986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  <p:sp>
        <p:nvSpPr>
          <p:cNvPr id="21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2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3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C18080-B33E-4073-8615-72D8F5AE8F78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26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52324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27" name="Content Placeholder 3"/>
          <p:cNvSpPr>
            <a:spLocks noGrp="1"/>
          </p:cNvSpPr>
          <p:nvPr>
            <p:ph idx="2"/>
          </p:nvPr>
        </p:nvSpPr>
        <p:spPr>
          <a:xfrm>
            <a:off x="6197600" y="1828800"/>
            <a:ext cx="52324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28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9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0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CB9569-04AF-4288-8880-64CE52ABE7A3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3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/>
        </p:txBody>
      </p:sp>
      <p:sp>
        <p:nvSpPr>
          <p:cNvPr id="34" name="Content Placeholder 3"/>
          <p:cNvSpPr>
            <a:spLocks noGrp="1"/>
          </p:cNvSpPr>
          <p:nvPr>
            <p:ph idx="2"/>
          </p:nvPr>
        </p:nvSpPr>
        <p:spPr>
          <a:xfrm>
            <a:off x="762000" y="2514600"/>
            <a:ext cx="5232400" cy="36703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35" name="Text Placeholder 4"/>
          <p:cNvSpPr>
            <a:spLocks noGrp="1"/>
          </p:cNvSpPr>
          <p:nvPr>
            <p:ph type="body" idx="3"/>
          </p:nvPr>
        </p:nvSpPr>
        <p:spPr>
          <a:xfrm>
            <a:off x="61976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/>
        </p:txBody>
      </p:sp>
      <p:sp>
        <p:nvSpPr>
          <p:cNvPr id="36" name="Content Placeholder 5"/>
          <p:cNvSpPr>
            <a:spLocks noGrp="1"/>
          </p:cNvSpPr>
          <p:nvPr>
            <p:ph idx="4"/>
          </p:nvPr>
        </p:nvSpPr>
        <p:spPr>
          <a:xfrm>
            <a:off x="6197600" y="2514600"/>
            <a:ext cx="5232400" cy="36703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37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8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9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533E07-937E-4FED-8300-891295843456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4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28B55B-FA15-48BA-860D-0231187503D9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E0EBC0-ADA9-4FA7-889C-9287646BC794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/>
        </p:txBody>
      </p:sp>
      <p:sp>
        <p:nvSpPr>
          <p:cNvPr id="51" name="Content Placeholder 2"/>
          <p:cNvSpPr>
            <a:spLocks noGrp="1"/>
          </p:cNvSpPr>
          <p:nvPr>
            <p:ph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52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1600"/>
            </a:lvl1pPr>
          </a:lstStyle>
          <a:p/>
        </p:txBody>
      </p:sp>
      <p:sp>
        <p:nvSpPr>
          <p:cNvPr id="53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4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5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25AB8-FB3A-479C-8780-0B7E5F586C0F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/>
        </p:txBody>
      </p:sp>
      <p:sp>
        <p:nvSpPr>
          <p:cNvPr id="58" name="Picture Placeholder 2"/>
          <p:cNvSpPr>
            <a:spLocks noGrp="1"/>
          </p:cNvSpPr>
          <p:nvPr>
            <p:ph type="pic"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59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1600"/>
            </a:lvl1pPr>
          </a:lstStyle>
          <a:p/>
        </p:txBody>
      </p:sp>
      <p:sp>
        <p:nvSpPr>
          <p:cNvPr id="60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1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2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EFC29A-6C4F-4141-86E3-1A3E2D58E3A2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65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vert="eaVert" anchor="t">
            <a:normAutofit fontScale="100000"/>
          </a:bodyPr>
          <a:lstStyle/>
          <a:p/>
        </p:txBody>
      </p:sp>
      <p:sp>
        <p:nvSpPr>
          <p:cNvPr id="6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9C649-D3E0-46CB-87C1-67136E4226A6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8300"/>
            <a:ext cx="2705100" cy="5816600"/>
          </a:xfrm>
          <a:prstGeom prst="rect">
            <a:avLst/>
          </a:prstGeom>
        </p:spPr>
        <p:txBody>
          <a:bodyPr vert="eaVert"/>
          <a:lstStyle/>
          <a:p/>
        </p:txBody>
      </p:sp>
      <p:sp>
        <p:nvSpPr>
          <p:cNvPr id="71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68300"/>
            <a:ext cx="7772400" cy="5816600"/>
          </a:xfrm>
          <a:prstGeom prst="rect">
            <a:avLst/>
          </a:prstGeom>
        </p:spPr>
        <p:txBody>
          <a:bodyPr vert="eaVert" anchor="t">
            <a:normAutofit fontScale="100000"/>
          </a:bodyPr>
          <a:lstStyle/>
          <a:p/>
        </p:txBody>
      </p:sp>
      <p:sp>
        <p:nvSpPr>
          <p:cNvPr id="7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7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7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EBE78A-EB3E-401E-81B5-D7F53201DAF3}" type="slidenum">
              <a:rPr/>
              <a:t>‹#›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DeckCraf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>
            <a:r>
              <a:rPr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>
            <a:r>
              <a:rPr/>
              <a:t>Click to edit Master text styles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</a:defRPr>
      </a:lvl1pPr>
      <a:lvl2pPr marL="685800" indent="-228600" algn="l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</a:defRPr>
      </a:lvl2pPr>
      <a:lvl3pPr marL="1143000" indent="-228600" algn="l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</a:defRPr>
      </a:lvl3pPr>
      <a:lvl4pPr marL="1600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4pPr>
      <a:lvl5pPr marL="20574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5pPr>
      <a:lvl6pPr marL="25146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lvl1pPr marL="0" algn="l">
        <a:defRPr sz="1800" kern="1200">
          <a:solidFill>
            <a:schemeClr val="tx1"/>
          </a:solidFill>
          <a:latin typeface="+mn-lt"/>
        </a:defRPr>
      </a:lvl1pPr>
      <a:lvl2pPr marL="457200" algn="l">
        <a:defRPr sz="1800" kern="1200">
          <a:solidFill>
            <a:schemeClr val="tx1"/>
          </a:solidFill>
          <a:latin typeface="+mn-lt"/>
        </a:defRPr>
      </a:lvl2pPr>
      <a:lvl3pPr marL="914400" algn="l">
        <a:defRPr sz="1800" kern="1200">
          <a:solidFill>
            <a:schemeClr val="tx1"/>
          </a:solidFill>
          <a:latin typeface="+mn-lt"/>
        </a:defRPr>
      </a:lvl3pPr>
      <a:lvl4pPr marL="1371600" algn="l">
        <a:defRPr sz="1800" kern="1200">
          <a:solidFill>
            <a:schemeClr val="tx1"/>
          </a:solidFill>
          <a:latin typeface="+mn-lt"/>
        </a:defRPr>
      </a:lvl4pPr>
      <a:lvl5pPr marL="1828800" algn="l">
        <a:defRPr sz="1800" kern="1200">
          <a:solidFill>
            <a:schemeClr val="tx1"/>
          </a:solidFill>
          <a:latin typeface="+mn-lt"/>
        </a:defRPr>
      </a:lvl5pPr>
      <a:lvl6pPr marL="2286000" algn="l">
        <a:defRPr sz="1800" kern="1200">
          <a:solidFill>
            <a:schemeClr val="tx1"/>
          </a:solidFill>
          <a:latin typeface="+mn-lt"/>
        </a:defRPr>
      </a:lvl6pPr>
      <a:lvl7pPr marL="2743200" algn="l">
        <a:defRPr sz="1800" kern="1200">
          <a:solidFill>
            <a:schemeClr val="tx1"/>
          </a:solidFill>
          <a:latin typeface="+mn-lt"/>
        </a:defRPr>
      </a:lvl7pPr>
      <a:lvl8pPr marL="3200400" algn="l">
        <a:defRPr sz="1800" kern="1200">
          <a:solidFill>
            <a:schemeClr val="tx1"/>
          </a:solidFill>
          <a:latin typeface="+mn-lt"/>
        </a:defRPr>
      </a:lvl8pPr>
      <a:lvl9pPr marL="3657600" algn="l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milleleaf.com" TargetMode="Externa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jpe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hyperlink" Target="mailto:hello@milleleaf.com" TargetMode="Externa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a4dda6e5-3f88-50cc-a60f-0cfc36f762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mleaf:e17c8f5b-124a-538d-8210-832d1d49cd0d"/>
          <p:cNvSpPr txBox="1"/>
          <p:nvPr/>
        </p:nvSpPr>
        <p:spPr>
          <a:xfrm>
            <a:off x="685800" y="2130457"/>
            <a:ext cx="7772019" cy="146951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Milleleaf</a:t>
            </a:r>
            <a:endParaRPr sz="440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9" name="mleaf:b06ff99a-fe58-5d2a-b929-271cce54c60c"/>
          <p:cNvSpPr txBox="1"/>
          <p:nvPr/>
        </p:nvSpPr>
        <p:spPr>
          <a:xfrm>
            <a:off x="1371600" y="3886200"/>
            <a:ext cx="6400419" cy="17521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641"/>
              </a:spcBef>
              <a:buNone/>
            </a:pPr>
            <a:r>
              <a:rPr sz="3200">
                <a:solidFill>
                  <a:srgbClr val="898989"/>
                </a:solidFill>
                <a:latin typeface="Calibri"/>
              </a:rPr>
              <a:t>Office files you can trust, from any app</a:t>
            </a:r>
            <a:endParaRPr sz="3200">
              <a:solidFill>
                <a:srgbClr val="898989"/>
              </a:solidFill>
              <a:latin typeface="Calibri"/>
            </a:endParaRPr>
          </a:p>
        </p:txBody>
      </p:sp>
      <p:pic>
        <p:nvPicPr>
          <p:cNvPr id="260" name="mleaf:6dcc2557-f941-5d0a-8286-25fa9a8bb8c3" descr="mark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241280" y="365760"/>
            <a:ext cx="1676876" cy="146265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2c51316c-fa2f-5343-a4db-aa6cd152efa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mleaf:5df6afb0-d370-595c-9bb5-a4427b92acb7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What Milleleaf does</a:t>
            </a:r>
            <a:endParaRPr sz="440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4" name="mleaf:2c3e6ccb-8456-5c29-94ea-c27cd4bbf21f"/>
          <p:cNvSpPr txBox="1"/>
          <p:nvPr/>
        </p:nvSpPr>
        <p:spPr>
          <a:xfrm>
            <a:off x="457200" y="1600200"/>
            <a:ext cx="8229219" cy="452551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343080" indent="-343080" algn="l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>
                <a:solidFill>
                  <a:srgbClr val="000000"/>
                </a:solidFill>
                <a:latin typeface="Calibri"/>
              </a:rPr>
              <a:t>Keeps every edit as a signed layer</a:t>
            </a:r>
            <a:endParaRPr sz="3200">
              <a:solidFill>
                <a:srgbClr val="000000"/>
              </a:solidFill>
              <a:latin typeface="Calibri"/>
            </a:endParaRPr>
          </a:p>
          <a:p>
            <a:pPr marL="743040" lvl="1" indent="-285840" algn="l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>
                <a:solidFill>
                  <a:srgbClr val="000000"/>
                </a:solidFill>
                <a:latin typeface="Calibri"/>
              </a:rPr>
              <a:t>Who changed what, and when, stays with the file</a:t>
            </a:r>
            <a:endParaRPr sz="2800">
              <a:solidFill>
                <a:srgbClr val="000000"/>
              </a:solidFill>
              <a:latin typeface="Calibri"/>
            </a:endParaRPr>
          </a:p>
          <a:p>
            <a:pPr marL="343080" indent="-343080" algn="l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>
                <a:solidFill>
                  <a:srgbClr val="000000"/>
                </a:solidFill>
                <a:latin typeface="Calibri"/>
              </a:rPr>
              <a:t>Reads Word, Excel and PowerPoint files from any app</a:t>
            </a:r>
            <a:endParaRPr sz="3200">
              <a:solidFill>
                <a:srgbClr val="000000"/>
              </a:solidFill>
              <a:latin typeface="Calibri"/>
            </a:endParaRPr>
          </a:p>
          <a:p>
            <a:pPr marL="743040" lvl="1" indent="-285840" algn="l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>
                <a:solidFill>
                  <a:srgbClr val="000000"/>
                </a:solidFill>
                <a:latin typeface="Calibri"/>
              </a:rPr>
              <a:t>Re-saves that change nothing come back as no change</a:t>
            </a:r>
            <a:endParaRPr sz="2800">
              <a:solidFill>
                <a:srgbClr val="000000"/>
              </a:solidFill>
              <a:latin typeface="Calibri"/>
            </a:endParaRPr>
          </a:p>
          <a:p>
            <a:pPr marL="343080" indent="-343080" algn="l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>
                <a:solidFill>
                  <a:srgbClr val="000000"/>
                </a:solidFill>
                <a:latin typeface="Calibri"/>
              </a:rPr>
              <a:t>Says what it can't carry, instead of losing it quietly</a:t>
            </a:r>
            <a:endParaRPr sz="3200">
              <a:solidFill>
                <a:srgbClr val="000000"/>
              </a:solidFill>
              <a:latin typeface="Calibri"/>
            </a:endParaRPr>
          </a:p>
          <a:p>
            <a:pPr marL="343080" indent="-343080" algn="l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u="sng">
                <a:solidFill>
                  <a:srgbClr val="000000"/>
                </a:solidFill>
                <a:latin typeface="Calibri"/>
                <a:hlinkClick r:id="rId3"/>
              </a:rPr>
              <a:t>milleleaf.com</a:t>
            </a:r>
            <a:endParaRPr sz="3200" u="sng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fe484066-e0eb-58cf-a008-440e842b56c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mleaf:87145175-ada9-53e8-87bb-7ae36098a209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What comes back from each app</a:t>
            </a:r>
            <a:endParaRPr sz="440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7" name="mleaf:d08f732f-2569-5de9-bd79-71c56621940e"/>
          <p:cNvSpPr txBox="1"/>
          <p:nvPr/>
        </p:nvSpPr>
        <p:spPr>
          <a:xfrm>
            <a:off x="4648295" y="1600200"/>
            <a:ext cx="4038124" cy="452551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343080" indent="-343080" algn="l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Re-saves are compared with what Milleleaf would export.</a:t>
            </a:r>
            <a:endParaRPr sz="2800">
              <a:solidFill>
                <a:srgbClr val="000000"/>
              </a:solidFill>
              <a:latin typeface="Calibri"/>
            </a:endParaRPr>
          </a:p>
        </p:txBody>
      </p:sp>
      <p:graphicFrame>
        <p:nvGraphicFramePr>
          <p:cNvPr id="268" name="mleaf:c13a316c-a4e6-54d1-ba22-3d1990e38814"/>
          <p:cNvGraphicFramePr>
            <a:graphicFrameLocks noGrp="1"/>
          </p:cNvGraphicFramePr>
          <p:nvPr/>
        </p:nvGraphicFramePr>
        <p:xfrm>
          <a:off x="457200" y="1600200"/>
          <a:ext cx="4038124" cy="21945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346073"/>
                <a:gridCol w="1346073"/>
                <a:gridCol w="1346073"/>
              </a:tblGrid>
              <a:tr h="548640">
                <a:tc rowSpan="2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Format</a:t>
                      </a:r>
                      <a:endParaRPr sz="180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91440" marR="91440" marT="45720" marB="45720" anchor="t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Saved by</a:t>
                      </a:r>
                      <a:endParaRPr sz="180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91440" marR="91440" marT="45720" marB="45720" anchor="t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buNone/>
                      </a:pPr>
                    </a:p>
                  </a:txBody>
                  <a:tcPr marL="90000" marR="90000" marT="45720" marB="4572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548640">
                <a:tc vMerge="1">
                  <a:txBody>
                    <a:bodyPr/>
                    <a:lstStyle/>
                    <a:p>
                      <a:pPr algn="l">
                        <a:buNone/>
                      </a:pPr>
                    </a:p>
                  </a:txBody>
                  <a:tcPr marL="90000" marR="90000" marT="45720" marB="4572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LibreOffice</a:t>
                      </a:r>
                      <a:endParaRPr sz="180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91440" marR="91440" marT="45720" marB="45720" anchor="t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PowerPoint</a:t>
                      </a:r>
                      <a:endParaRPr sz="180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91440" marR="91440" marT="45720" marB="45720" anchor="t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Slides</a:t>
                      </a:r>
                      <a:endParaRPr sz="180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91440" marR="91440" marT="45720" marB="45720" anchor="t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no change</a:t>
                      </a:r>
                      <a:endParaRPr sz="180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91440" marR="91440" marT="45720" marB="45720" anchor="t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no change</a:t>
                      </a:r>
                      <a:endParaRPr sz="180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91440" marR="91440" marT="45720" marB="45720" anchor="t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Charts</a:t>
                      </a:r>
                      <a:endParaRPr sz="180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91440" marR="91440" marT="45720" marB="45720" anchor="t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listed</a:t>
                      </a:r>
                      <a:endParaRPr sz="180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91440" marR="91440" marT="45720" marB="45720" anchor="t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listed</a:t>
                      </a:r>
                      <a:endParaRPr sz="180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91440" marR="91440" marT="45720" marB="45720" anchor="t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ee934aa1-9f2f-56a4-8cc6-99db20fc969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mleaf:112d1341-5f3b-5774-b9f9-c9c8124aa696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How an edit comes back</a:t>
            </a:r>
            <a:endParaRPr sz="440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1" name="mleaf:fe89d69a-83d4-5679-a3d3-ccad43f16ace"/>
          <p:cNvSpPr/>
          <p:nvPr/>
        </p:nvSpPr>
        <p:spPr>
          <a:xfrm>
            <a:off x="731520" y="2743200"/>
            <a:ext cx="2194179" cy="1096899"/>
          </a:xfrm>
          <a:prstGeom prst="roundRect">
            <a:avLst/>
          </a:prstGeom>
          <a:solidFill>
            <a:srgbClr val="97DBC2"/>
          </a:solidFill>
          <a:ln w="25432">
            <a:solidFill>
              <a:srgbClr val="09C8BA"/>
            </a:solidFill>
          </a:ln>
        </p:spPr>
        <p:txBody>
          <a:bodyPr wrap="square" lIns="90011" tIns="44958" rIns="90011" bIns="44958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800">
                <a:solidFill>
                  <a:srgbClr val="0B1326"/>
                </a:solidFill>
                <a:latin typeface="Calibri"/>
              </a:rPr>
              <a:t>Adopt</a:t>
            </a:r>
            <a:endParaRPr sz="1800">
              <a:solidFill>
                <a:srgbClr val="0B1326"/>
              </a:solidFill>
              <a:latin typeface="Calibri"/>
            </a:endParaRPr>
          </a:p>
        </p:txBody>
      </p:sp>
      <p:sp>
        <p:nvSpPr>
          <p:cNvPr id="272" name="mleaf:70cfccb9-8743-5ee2-8d22-d3833a134ac8"/>
          <p:cNvSpPr/>
          <p:nvPr/>
        </p:nvSpPr>
        <p:spPr>
          <a:xfrm>
            <a:off x="3566160" y="2743200"/>
            <a:ext cx="2194179" cy="1096899"/>
          </a:xfrm>
          <a:prstGeom prst="roundRect">
            <a:avLst/>
          </a:prstGeom>
          <a:solidFill>
            <a:srgbClr val="97DBC2"/>
          </a:solidFill>
          <a:ln w="25432">
            <a:solidFill>
              <a:srgbClr val="09C8BA"/>
            </a:solidFill>
          </a:ln>
        </p:spPr>
        <p:txBody>
          <a:bodyPr wrap="square" lIns="90011" tIns="44958" rIns="90011" bIns="44958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800">
                <a:solidFill>
                  <a:srgbClr val="0B1326"/>
                </a:solidFill>
                <a:latin typeface="Calibri"/>
              </a:rPr>
              <a:t>Export</a:t>
            </a:r>
            <a:endParaRPr sz="1800">
              <a:solidFill>
                <a:srgbClr val="0B1326"/>
              </a:solidFill>
              <a:latin typeface="Calibri"/>
            </a:endParaRPr>
          </a:p>
        </p:txBody>
      </p:sp>
      <p:sp>
        <p:nvSpPr>
          <p:cNvPr id="273" name="mleaf:3d3b2f75-54d3-5bd3-8ff9-2a9378bc2943"/>
          <p:cNvSpPr/>
          <p:nvPr/>
        </p:nvSpPr>
        <p:spPr>
          <a:xfrm>
            <a:off x="6400800" y="2743200"/>
            <a:ext cx="2194179" cy="1096899"/>
          </a:xfrm>
          <a:prstGeom prst="roundRect">
            <a:avLst/>
          </a:prstGeom>
          <a:solidFill>
            <a:srgbClr val="97DBC2"/>
          </a:solidFill>
          <a:ln w="25432">
            <a:solidFill>
              <a:srgbClr val="09C8BA"/>
            </a:solidFill>
          </a:ln>
        </p:spPr>
        <p:txBody>
          <a:bodyPr wrap="square" lIns="90011" tIns="44958" rIns="90011" bIns="44958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800">
                <a:solidFill>
                  <a:srgbClr val="0B1326"/>
                </a:solidFill>
                <a:latin typeface="Calibri"/>
              </a:rPr>
              <a:t>Edit anywhere</a:t>
            </a:r>
            <a:endParaRPr sz="1800">
              <a:solidFill>
                <a:srgbClr val="0B1326"/>
              </a:solidFill>
              <a:latin typeface="Calibri"/>
            </a:endParaRPr>
          </a:p>
        </p:txBody>
      </p:sp>
      <p:sp>
        <p:nvSpPr>
          <p:cNvPr id="274" name="mleaf:b66f34d0-0949-5c9c-819a-5041c656bd48"/>
          <p:cNvSpPr/>
          <p:nvPr/>
        </p:nvSpPr>
        <p:spPr>
          <a:xfrm>
            <a:off x="9235440" y="2743200"/>
            <a:ext cx="2194179" cy="1096899"/>
          </a:xfrm>
          <a:prstGeom prst="roundRect">
            <a:avLst/>
          </a:prstGeom>
          <a:solidFill>
            <a:srgbClr val="97DBC2"/>
          </a:solidFill>
          <a:ln w="25432">
            <a:solidFill>
              <a:srgbClr val="09C8BA"/>
            </a:solidFill>
          </a:ln>
        </p:spPr>
        <p:txBody>
          <a:bodyPr wrap="square" lIns="90011" tIns="44958" rIns="90011" bIns="44958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800">
                <a:solidFill>
                  <a:srgbClr val="0B1326"/>
                </a:solidFill>
                <a:latin typeface="Calibri"/>
              </a:rPr>
              <a:t>Import</a:t>
            </a:r>
            <a:endParaRPr sz="1800">
              <a:solidFill>
                <a:srgbClr val="0B1326"/>
              </a:solidFill>
              <a:latin typeface="Calibri"/>
            </a:endParaRPr>
          </a:p>
        </p:txBody>
      </p:sp>
      <p:cxnSp>
        <p:nvCxnSpPr>
          <p:cNvPr id="275" name="mleaf:e8b48068-ea77-586c-ab43-627cb00f233d"/>
          <p:cNvCxnSpPr>
            <a:stCxn id="271" idx="3"/>
            <a:endCxn id="272" idx="1"/>
          </p:cNvCxnSpPr>
          <p:nvPr/>
        </p:nvCxnSpPr>
        <p:spPr>
          <a:xfrm>
            <a:off x="2926080" y="3291840"/>
            <a:ext cx="640461" cy="381"/>
          </a:xfrm>
          <a:prstGeom prst="straightConnector1">
            <a:avLst/>
          </a:prstGeom>
          <a:noFill/>
          <a:ln w="19050">
            <a:solidFill>
              <a:srgbClr val="0B1326"/>
            </a:solidFill>
            <a:round/>
            <a:tailEnd type="triangle" w="med" len="med"/>
          </a:ln>
        </p:spPr>
      </p:cxnSp>
      <p:cxnSp>
        <p:nvCxnSpPr>
          <p:cNvPr id="276" name="mleaf:0229f7e3-cbf1-5f84-8efb-30ffee4db22b"/>
          <p:cNvCxnSpPr>
            <a:stCxn id="272" idx="3"/>
            <a:endCxn id="273" idx="1"/>
          </p:cNvCxnSpPr>
          <p:nvPr/>
        </p:nvCxnSpPr>
        <p:spPr>
          <a:xfrm>
            <a:off x="5760720" y="3291840"/>
            <a:ext cx="640461" cy="381"/>
          </a:xfrm>
          <a:prstGeom prst="straightConnector1">
            <a:avLst/>
          </a:prstGeom>
          <a:noFill/>
          <a:ln w="19050">
            <a:solidFill>
              <a:srgbClr val="0B1326"/>
            </a:solidFill>
            <a:round/>
            <a:tailEnd type="triangle" w="med" len="med"/>
          </a:ln>
        </p:spPr>
      </p:cxnSp>
      <p:cxnSp>
        <p:nvCxnSpPr>
          <p:cNvPr id="277" name="mleaf:763fe3e3-fef1-5f8a-8a43-26372e2391ba"/>
          <p:cNvCxnSpPr>
            <a:stCxn id="273" idx="3"/>
            <a:endCxn id="274" idx="1"/>
          </p:cNvCxnSpPr>
          <p:nvPr/>
        </p:nvCxnSpPr>
        <p:spPr>
          <a:xfrm>
            <a:off x="8595360" y="3291840"/>
            <a:ext cx="640461" cy="381"/>
          </a:xfrm>
          <a:prstGeom prst="straightConnector1">
            <a:avLst/>
          </a:prstGeom>
          <a:noFill/>
          <a:ln w="19050">
            <a:solidFill>
              <a:srgbClr val="0B1326"/>
            </a:solidFill>
            <a:round/>
            <a:tailEnd type="triangle" w="med" len="med"/>
          </a:ln>
        </p:spPr>
      </p:cxnSp>
      <p:cxnSp>
        <p:nvCxnSpPr>
          <p:cNvPr id="278" name="mleaf:ab78373f-7016-55cb-9826-f9af625bb9ae"/>
          <p:cNvCxnSpPr/>
          <p:nvPr/>
        </p:nvCxnSpPr>
        <p:spPr>
          <a:xfrm>
            <a:off x="731520" y="4389120"/>
            <a:ext cx="10241661" cy="381"/>
          </a:xfrm>
          <a:prstGeom prst="straightConnector1">
            <a:avLst/>
          </a:prstGeom>
          <a:noFill/>
          <a:ln w="19050">
            <a:solidFill>
              <a:srgbClr val="489557"/>
            </a:solidFill>
            <a:prstDash val="dash"/>
            <a:round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d9a80f20-1e58-5d54-abaf-5b8a1542251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mleaf:a4853a04-5b4d-5543-96ac-05ef78137a1b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A week of round trips</a:t>
            </a:r>
            <a:endParaRPr sz="440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d26a4c28-8f12-5c03-9ffe-6cb0f1a48f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mleaf:1c3f0704-0f0a-589e-95fa-7282b64fdcef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Where the files come from</a:t>
            </a:r>
            <a:endParaRPr sz="440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fce8316d-0d18-528c-ab9c-6300c6f3f42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mleaf:3931a9cf-2762-58da-8f6b-4844649bda74"/>
          <p:cNvSpPr txBox="1"/>
          <p:nvPr/>
        </p:nvSpPr>
        <p:spPr>
          <a:xfrm>
            <a:off x="1792415" y="4800600"/>
            <a:ext cx="5486019" cy="566261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The chart, as a picture</a:t>
            </a:r>
            <a:endParaRPr sz="2000" b="1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285" name="mleaf:535f73ca-aa6c-563e-bc0a-7f2ebb8a8725" descr="chart.jpg"/>
          <p:cNvPicPr>
            <a:picLocks noChangeAspect="1"/>
          </p:cNvPicPr>
          <p:nvPr/>
        </p:nvPicPr>
        <p:blipFill rotWithShape="1">
          <a:blip r:embed="rId3"/>
          <a:srcRect l="8000" t="10000" r="5000" b="4000"/>
          <a:stretch>
            <a:fillRect/>
          </a:stretch>
        </p:blipFill>
        <p:spPr>
          <a:xfrm>
            <a:off x="1792415" y="612743"/>
            <a:ext cx="5486019" cy="4114419"/>
          </a:xfrm>
          <a:prstGeom prst="rect">
            <a:avLst/>
          </a:prstGeom>
        </p:spPr>
      </p:pic>
      <p:sp>
        <p:nvSpPr>
          <p:cNvPr id="287" name="mleaf:a79d358b-948a-58de-8699-2d23702ab6f6"/>
          <p:cNvSpPr txBox="1"/>
          <p:nvPr/>
        </p:nvSpPr>
        <p:spPr>
          <a:xfrm>
            <a:off x="1792415" y="5367242"/>
            <a:ext cx="5486019" cy="80457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281"/>
              </a:spcBef>
              <a:buNone/>
            </a:pPr>
            <a:r>
              <a:rPr sz="1400">
                <a:solidFill>
                  <a:srgbClr val="000000"/>
                </a:solidFill>
                <a:latin typeface="Calibri"/>
              </a:rPr>
              <a:t>Made from slide 5's chart.</a:t>
            </a:r>
            <a:endParaRPr sz="140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97c0dd8d-a375-5dfa-82e0-612ec64d5d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mleaf:783617a4-9f7d-5fb8-b072-ad493db17293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Before and after</a:t>
            </a:r>
            <a:endParaRPr sz="440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0" name="mleaf:194a2640-dc98-5c48-83a4-6e5a553640c9"/>
          <p:cNvSpPr txBox="1"/>
          <p:nvPr/>
        </p:nvSpPr>
        <p:spPr>
          <a:xfrm>
            <a:off x="457200" y="1535049"/>
            <a:ext cx="4039934" cy="63931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479"/>
              </a:spcBef>
              <a:buNone/>
            </a:pPr>
            <a:r>
              <a:rPr sz="2400" b="1">
                <a:solidFill>
                  <a:srgbClr val="000000"/>
                </a:solidFill>
                <a:latin typeface="Calibri"/>
              </a:rPr>
              <a:t>Before</a:t>
            </a:r>
            <a:endParaRPr sz="2400" b="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1" name="mleaf:9681ce91-66e6-5999-98a0-e1988d51754e"/>
          <p:cNvSpPr txBox="1"/>
          <p:nvPr/>
        </p:nvSpPr>
        <p:spPr>
          <a:xfrm>
            <a:off x="4645057" y="1535049"/>
            <a:ext cx="4041362" cy="63931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479"/>
              </a:spcBef>
              <a:buNone/>
            </a:pPr>
            <a:r>
              <a:rPr sz="2400" b="1">
                <a:solidFill>
                  <a:srgbClr val="000000"/>
                </a:solidFill>
                <a:latin typeface="Calibri"/>
              </a:rPr>
              <a:t>After</a:t>
            </a:r>
            <a:endParaRPr sz="2400" b="1">
              <a:solidFill>
                <a:srgbClr val="000000"/>
              </a:solidFill>
              <a:latin typeface="Calibri"/>
            </a:endParaRPr>
          </a:p>
        </p:txBody>
      </p:sp>
      <p:graphicFrame>
        <p:nvGraphicFramePr>
          <p:cNvPr id="292" name="mleaf:9a9d4429-ffc4-514f-bd70-68ca13e2bfb1"/>
          <p:cNvGraphicFramePr>
            <a:graphicFrameLocks noGrp="1"/>
          </p:cNvGraphicFramePr>
          <p:nvPr/>
        </p:nvGraphicFramePr>
        <p:xfrm>
          <a:off x="731520" y="2377440"/>
          <a:ext cx="10515219" cy="146265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257800"/>
                <a:gridCol w="5257800"/>
              </a:tblGrid>
              <a:tr h="48739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Before</a:t>
                      </a:r>
                      <a:endParaRPr sz="180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91440" marR="91440" marT="45720" marB="45720" anchor="t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  <a:endParaRPr sz="180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91440" marR="91440" marT="45720" marB="45720" anchor="t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</a:tr>
              <a:tr h="48739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Losses went unnoticed</a:t>
                      </a:r>
                      <a:endParaRPr sz="180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91440" marR="91440" marT="45720" marB="45720" anchor="t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Every loss is listed</a:t>
                      </a:r>
                      <a:endParaRPr sz="180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91440" marR="91440" marT="45720" marB="45720" anchor="t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48739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One app's view</a:t>
                      </a:r>
                      <a:endParaRPr sz="180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91440" marR="91440" marT="45720" marB="45720" anchor="t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Any app's re-save</a:t>
                      </a:r>
                      <a:endParaRPr sz="180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91440" marR="91440" marT="45720" marB="45720" anchor="t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85246511-9134-54ab-bf41-5aee5d04e0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mleaf:119b3989-72c9-50df-ae8e-4dbc13d49f4e"/>
          <p:cNvSpPr txBox="1"/>
          <p:nvPr/>
        </p:nvSpPr>
        <p:spPr>
          <a:xfrm>
            <a:off x="722185" y="4406741"/>
            <a:ext cx="7772019" cy="136188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4000" b="1">
                <a:solidFill>
                  <a:srgbClr val="000000"/>
                </a:solidFill>
                <a:latin typeface="Calibri"/>
              </a:rPr>
              <a:t>Talk to us</a:t>
            </a:r>
            <a:endParaRPr sz="4000" b="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5" name="mleaf:52cb8aaf-58b4-557a-bb3c-ec7236b79f07"/>
          <p:cNvSpPr txBox="1"/>
          <p:nvPr/>
        </p:nvSpPr>
        <p:spPr>
          <a:xfrm>
            <a:off x="722185" y="2906649"/>
            <a:ext cx="7772019" cy="14998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sz="2000" u="sng">
                <a:solidFill>
                  <a:srgbClr val="898989"/>
                </a:solidFill>
                <a:latin typeface="Calibri"/>
                <a:hlinkClick r:id="rId3"/>
              </a:rPr>
              <a:t>hello@milleleaf.com</a:t>
            </a:r>
            <a:endParaRPr sz="2000" u="sng">
              <a:solidFill>
                <a:srgbClr val="898989"/>
              </a:solidFill>
              <a:latin typeface="Calibri"/>
            </a:endParaRP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sz="2000" u="sng">
                <a:solidFill>
                  <a:srgbClr val="898989"/>
                </a:solidFill>
                <a:latin typeface="Calibri"/>
              </a:rPr>
              <a:t>Back to the start</a:t>
            </a:r>
            <a:endParaRPr sz="2000" u="sng">
              <a:solidFill>
                <a:srgbClr val="898989"/>
              </a:solidFill>
              <a:latin typeface="Calibri"/>
            </a:endParaRPr>
          </a:p>
        </p:txBody>
      </p:sp>
      <p:pic>
        <p:nvPicPr>
          <p:cNvPr id="296" name="mleaf:b7e5fa70-def2-5cf6-bac7-32a86718c29c" descr="mark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0241280" y="365760"/>
            <a:ext cx="1676876" cy="14626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DeckCraft</Application>
  <Slides>9</Slides>
  <Notes>9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milleleaf-deck.impress</dc:title>
  <cp:keywords>mleafdeck=1384e197-120e-59ea-b738-9941afeb276f mleafrevision=b795dbd3073d14f0fea568b9</cp:keywords>
</cp:coreProperties>
</file>