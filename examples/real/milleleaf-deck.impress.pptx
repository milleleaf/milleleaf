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Round trips and losses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Round trips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Losses found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gapWidth val="150"/>
        <c:overlap val="0"/>
        <c:axId val="90384534"/>
        <c:axId val="74323180"/>
      </c:barChart>
      <c:catAx>
        <c:axId val="90384534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74323180"/>
        <c:crosses val="autoZero"/>
        <c:auto val="1"/>
        <c:lblAlgn val="ctr"/>
        <c:lblOffset val="100"/>
        <c:noMultiLvlLbl val="0"/>
      </c:catAx>
      <c:valAx>
        <c:axId val="74323180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9038453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8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The same week, as lines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Round trips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Losses found</c:v>
                </c:pt>
              </c:strCache>
            </c:strRef>
          </c:tx>
          <c:spPr>
            <a:solidFill>
              <a:srgbClr val="be4b48"/>
            </a:solidFill>
            <a:ln w="28440">
              <a:solidFill>
                <a:srgbClr val="be4b48"/>
              </a:solidFill>
              <a:round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36962725"/>
        <c:axId val="88129142"/>
      </c:lineChart>
      <c:catAx>
        <c:axId val="36962725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88129142"/>
        <c:crosses val="autoZero"/>
        <c:auto val="1"/>
        <c:lblAlgn val="ctr"/>
        <c:lblOffset val="100"/>
        <c:noMultiLvlLbl val="0"/>
      </c:catAx>
      <c:valAx>
        <c:axId val="8812914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36962725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8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Files checked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Files checked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f81bd"/>
              </a:solidFill>
              <a:ln w="0">
                <a:noFill/>
              </a:ln>
            </c:spPr>
          </c:dPt>
          <c:dPt>
            <c:idx val="1"/>
            <c:spPr>
              <a:solidFill>
                <a:srgbClr val="c0504d"/>
              </a:solidFill>
              <a:ln w="0">
                <a:noFill/>
              </a:ln>
            </c:spPr>
          </c:dPt>
          <c:dPt>
            <c:idx val="2"/>
            <c:spPr>
              <a:solidFill>
                <a:srgbClr val="9bbb59"/>
              </a:solidFill>
              <a:ln w="0">
                <a:noFill/>
              </a:ln>
            </c:spPr>
          </c:dPt>
          <c:dLbls>
            <c:numFmt formatCode="General" sourceLinked="0"/>
            <c:dLbl>
              <c:idx val="0"/>
              <c:numFmt formatCode="General" sourceLinked="0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General" sourceLinked="0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General" sourceLinked="0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Word</c:v>
                </c:pt>
                <c:pt idx="1">
                  <c:v>Excel</c:v>
                </c:pt>
                <c:pt idx="2">
                  <c:v>PowerPoint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8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Round trips (bars) and losses (line)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Round trips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</c:ser>
        <c:gapWidth val="150"/>
        <c:overlap val="0"/>
        <c:axId val="48770086"/>
        <c:axId val="15718366"/>
      </c:barChart>
      <c:lineChart>
        <c:grouping val="standard"/>
        <c:varyColors val="0"/>
        <c:ser>
          <c:idx val="1"/>
          <c:order val="1"/>
          <c:tx>
            <c:strRef>
              <c:f>label 1</c:f>
              <c:strCache>
                <c:ptCount val="1"/>
                <c:pt idx="0">
                  <c:v>Losses found</c:v>
                </c:pt>
              </c:strCache>
            </c:strRef>
          </c:tx>
          <c:spPr>
            <a:solidFill>
              <a:srgbClr val="be4b48"/>
            </a:solidFill>
            <a:ln w="28440">
              <a:solidFill>
                <a:srgbClr val="be4b48"/>
              </a:solidFill>
              <a:round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48770086"/>
        <c:axId val="15718366"/>
      </c:lineChart>
      <c:catAx>
        <c:axId val="48770086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15718366"/>
        <c:crosses val="autoZero"/>
        <c:auto val="1"/>
        <c:lblAlgn val="ctr"/>
        <c:lblOffset val="100"/>
        <c:noMultiLvlLbl val="0"/>
      </c:catAx>
      <c:valAx>
        <c:axId val="1571836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48770086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8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F350715-E6FF-463A-AF7B-8767E845C88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Open with what Milleleaf is for: office files that keep their history, whichever app edits them.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9739A8-1973-4F9C-B6CF-CF9231786D7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Walk through the three promises; the second-level bullets are the detail.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DD41F3-0A09-4831-86C1-C1383B3F9F0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table is the point: merged cells span the app columns.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D7FE6E-53B3-4A09-9A33-0CB700D375D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Each arrow is a connector attached to the boxes it joins.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91384F-6B11-4D0A-871A-DC946776B95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Bars count round trips; the line shows losses falling as they were fixed.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A9C44F-491E-41D0-A87B-D63DE46F7BC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pie is the mix of formats; the combo puts both measures on one chart.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D2BF51-6E67-4041-ADEE-550D0287EB9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picture is cropped on purpose: the crop must survive.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875EF3-67E0-47A4-A6E8-74B4A7247D3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plain table, no merges, for comparison with slide 3.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8321FB-BB04-4A2F-BC52-BEA821CE87F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End on the contact address and a way back to the start.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E212BE3-C754-46B7-B423-79F16A785CB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4DFFB6-A032-407E-9E0E-2937782FD0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AB0D17-0917-4369-87F4-A401581488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B9E3CDA-3D54-4DDC-A9F1-1D02355BF9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195CB48-9A4C-4BBA-B192-70247DDC3E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7BC1128-159B-4EF3-AE84-93DA5AFBB6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722160" y="2906640"/>
            <a:ext cx="379260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704840" y="2906640"/>
            <a:ext cx="379260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D53CC35-050C-46A0-9312-256E00FA7A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94C4864-262C-4D37-A14D-DA292881B2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2AC246F-82E2-4D95-892C-67DFBF998A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545B3CB-53A5-4FD8-9252-99267C26A6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C81D202-8DA1-418F-A1EA-728B581DB5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6DA3BF1-3416-4805-A8B5-A93E9CE726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B62093-6379-4F8C-846D-8908E01F3B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198888-D53D-4FF1-953D-9EF5CCB345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739343-B170-4262-9187-E7A4F6C95A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720656-45F3-4DD2-8050-E73658D835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B35FDB-8FE8-4FEA-93F3-A34A8BAD07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48AC05-FF5D-4CAC-A816-015F8DC2F0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6FDBAF-F808-4C90-B7E6-C8CFFBC277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1BF839-A240-4977-96DE-0D9476B114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939FEE-AAEC-4013-8662-10F85A8AC7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037867-39CA-472E-BB6C-DDB60AD06A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F1CBBC-935E-48AF-BC1E-DF05C4A049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milleleaf.com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mailto:hello@milleleaf.com" TargetMode="External"/><Relationship Id="rId2" Type="http://schemas.openxmlformats.org/officeDocument/2006/relationships/slide" Target="slide1.xm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Milleleaf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Office files you can trust, from any app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Picture 3" descr="mark.png"/>
          <p:cNvPicPr/>
          <p:nvPr/>
        </p:nvPicPr>
        <p:blipFill>
          <a:blip r:embed="rId1"/>
          <a:stretch/>
        </p:blipFill>
        <p:spPr>
          <a:xfrm>
            <a:off x="10241280" y="365760"/>
            <a:ext cx="1676880" cy="1462680"/>
          </a:xfrm>
          <a:prstGeom prst="rect">
            <a:avLst/>
          </a:prstGeom>
          <a:ln w="0">
            <a:noFill/>
          </a:ln>
        </p:spPr>
      </p:pic>
      <p:sp>
        <p:nvSpPr>
          <p:cNvPr id="76" name="Rectangle 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09c8b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Milleleaf does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Keeps every edit as a signed layer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Who changed what, and when, stays with the file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Reads Word, Excel and PowerPoint files from any app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Re-saves that change nothing come back as no change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Says what it can't carry, instead of losing it quietly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milleleaf.com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comes back from each app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Re-saves are compared with what Milleleaf would export.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81" name="Table 4"/>
          <p:cNvGraphicFramePr/>
          <p:nvPr/>
        </p:nvGraphicFramePr>
        <p:xfrm>
          <a:off x="457200" y="1600200"/>
          <a:ext cx="4038120" cy="2194560"/>
        </p:xfrm>
        <a:graphic>
          <a:graphicData uri="http://schemas.openxmlformats.org/drawingml/2006/table">
            <a:tbl>
              <a:tblPr/>
              <a:tblGrid>
                <a:gridCol w="1346040"/>
                <a:gridCol w="1346040"/>
                <a:gridCol w="1346040"/>
              </a:tblGrid>
              <a:tr h="548640">
                <a:tc rowSpan="2"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Saved by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486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LibreOffice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PowerPoint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Slides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 change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 change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Charts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How an edit comes back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Rounded Rectangle 2"/>
          <p:cNvSpPr/>
          <p:nvPr/>
        </p:nvSpPr>
        <p:spPr>
          <a:xfrm>
            <a:off x="731520" y="2743200"/>
            <a:ext cx="2194200" cy="1096920"/>
          </a:xfrm>
          <a:prstGeom prst="roundRect">
            <a:avLst>
              <a:gd name="adj" fmla="val 16667"/>
            </a:avLst>
          </a:prstGeom>
          <a:solidFill>
            <a:srgbClr val="97dbc2"/>
          </a:solidFill>
          <a:ln w="25400">
            <a:solidFill>
              <a:srgbClr val="09c8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b1326"/>
                </a:solidFill>
                <a:latin typeface="Calibri"/>
              </a:rPr>
              <a:t>Adopt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ounded Rectangle 3"/>
          <p:cNvSpPr/>
          <p:nvPr/>
        </p:nvSpPr>
        <p:spPr>
          <a:xfrm>
            <a:off x="3566160" y="2743200"/>
            <a:ext cx="2194200" cy="1096920"/>
          </a:xfrm>
          <a:prstGeom prst="roundRect">
            <a:avLst>
              <a:gd name="adj" fmla="val 16667"/>
            </a:avLst>
          </a:prstGeom>
          <a:solidFill>
            <a:srgbClr val="97dbc2"/>
          </a:solidFill>
          <a:ln w="25400">
            <a:solidFill>
              <a:srgbClr val="09c8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b1326"/>
                </a:solidFill>
                <a:latin typeface="Calibri"/>
              </a:rPr>
              <a:t>Export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4"/>
          <p:cNvSpPr/>
          <p:nvPr/>
        </p:nvSpPr>
        <p:spPr>
          <a:xfrm>
            <a:off x="6400800" y="2743200"/>
            <a:ext cx="2194200" cy="1096920"/>
          </a:xfrm>
          <a:prstGeom prst="roundRect">
            <a:avLst>
              <a:gd name="adj" fmla="val 16667"/>
            </a:avLst>
          </a:prstGeom>
          <a:solidFill>
            <a:srgbClr val="97dbc2"/>
          </a:solidFill>
          <a:ln w="25400">
            <a:solidFill>
              <a:srgbClr val="09c8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b1326"/>
                </a:solidFill>
                <a:latin typeface="Calibri"/>
              </a:rPr>
              <a:t>Edit anywhere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5"/>
          <p:cNvSpPr/>
          <p:nvPr/>
        </p:nvSpPr>
        <p:spPr>
          <a:xfrm>
            <a:off x="9235440" y="2743200"/>
            <a:ext cx="2194200" cy="1096920"/>
          </a:xfrm>
          <a:prstGeom prst="roundRect">
            <a:avLst>
              <a:gd name="adj" fmla="val 16667"/>
            </a:avLst>
          </a:prstGeom>
          <a:solidFill>
            <a:srgbClr val="97dbc2"/>
          </a:solidFill>
          <a:ln w="25400">
            <a:solidFill>
              <a:srgbClr val="09c8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b1326"/>
                </a:solidFill>
                <a:latin typeface="Calibri"/>
              </a:rPr>
              <a:t>Import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Connector 6"/>
          <p:cNvCxnSpPr>
            <a:stCxn id="83" idx="3"/>
            <a:endCxn id="84" idx="1"/>
          </p:cNvCxnSpPr>
          <p:nvPr/>
        </p:nvCxnSpPr>
        <p:spPr>
          <a:xfrm>
            <a:off x="2926080" y="3291840"/>
            <a:ext cx="640440" cy="360"/>
          </a:xfrm>
          <a:prstGeom prst="straightConnector1">
            <a:avLst/>
          </a:prstGeom>
          <a:ln w="19050">
            <a:solidFill>
              <a:srgbClr val="0b1326"/>
            </a:solidFill>
            <a:round/>
            <a:tailEnd len="med" type="triangle" w="med"/>
          </a:ln>
        </p:spPr>
      </p:cxnSp>
      <p:cxnSp>
        <p:nvCxnSpPr>
          <p:cNvPr id="88" name="Connector 7"/>
          <p:cNvCxnSpPr>
            <a:stCxn id="84" idx="3"/>
            <a:endCxn id="85" idx="1"/>
          </p:cNvCxnSpPr>
          <p:nvPr/>
        </p:nvCxnSpPr>
        <p:spPr>
          <a:xfrm>
            <a:off x="5760720" y="3291840"/>
            <a:ext cx="640440" cy="360"/>
          </a:xfrm>
          <a:prstGeom prst="straightConnector1">
            <a:avLst/>
          </a:prstGeom>
          <a:ln w="19050">
            <a:solidFill>
              <a:srgbClr val="0b1326"/>
            </a:solidFill>
            <a:round/>
            <a:tailEnd len="med" type="triangle" w="med"/>
          </a:ln>
        </p:spPr>
      </p:cxnSp>
      <p:cxnSp>
        <p:nvCxnSpPr>
          <p:cNvPr id="89" name="Connector 8"/>
          <p:cNvCxnSpPr>
            <a:stCxn id="85" idx="3"/>
            <a:endCxn id="86" idx="1"/>
          </p:cNvCxnSpPr>
          <p:nvPr/>
        </p:nvCxnSpPr>
        <p:spPr>
          <a:xfrm>
            <a:off x="8595360" y="3291840"/>
            <a:ext cx="640440" cy="360"/>
          </a:xfrm>
          <a:prstGeom prst="straightConnector1">
            <a:avLst/>
          </a:prstGeom>
          <a:ln w="19050">
            <a:solidFill>
              <a:srgbClr val="0b1326"/>
            </a:solidFill>
            <a:round/>
            <a:tailEnd len="med" type="triangle" w="med"/>
          </a:ln>
        </p:spPr>
      </p:cxnSp>
      <p:cxnSp>
        <p:nvCxnSpPr>
          <p:cNvPr id="90" name="Connector 9"/>
          <p:cNvCxnSpPr/>
          <p:nvPr/>
        </p:nvCxnSpPr>
        <p:spPr>
          <a:xfrm>
            <a:off x="731520" y="4389120"/>
            <a:ext cx="10241640" cy="360"/>
          </a:xfrm>
          <a:prstGeom prst="straightConnector1">
            <a:avLst/>
          </a:prstGeom>
          <a:ln w="19050">
            <a:solidFill>
              <a:srgbClr val="489557"/>
            </a:solidFill>
            <a:prstDash val="dash"/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 week of round trips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92" name="Chart 2"/>
          <p:cNvGraphicFramePr/>
          <p:nvPr/>
        </p:nvGraphicFramePr>
        <p:xfrm>
          <a:off x="457200" y="1463040"/>
          <a:ext cx="5486040" cy="438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3" name="Chart 3"/>
          <p:cNvGraphicFramePr/>
          <p:nvPr/>
        </p:nvGraphicFramePr>
        <p:xfrm>
          <a:off x="6217920" y="1463040"/>
          <a:ext cx="5486040" cy="438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Where the files come from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95" name="Chart 2"/>
          <p:cNvGraphicFramePr/>
          <p:nvPr/>
        </p:nvGraphicFramePr>
        <p:xfrm>
          <a:off x="457200" y="1463040"/>
          <a:ext cx="5120280" cy="438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6" name="Chart 3"/>
          <p:cNvGraphicFramePr/>
          <p:nvPr/>
        </p:nvGraphicFramePr>
        <p:xfrm>
          <a:off x="6035040" y="1463040"/>
          <a:ext cx="5668920" cy="438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The chart, as a picture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8" name="Picture Placeholder 2" descr="chart.jpg"/>
          <p:cNvPicPr/>
          <p:nvPr/>
        </p:nvPicPr>
        <p:blipFill>
          <a:blip r:embed="rId1"/>
          <a:srcRect l="8002" t="10000" r="5000" b="4000"/>
          <a:stretch/>
        </p:blipFill>
        <p:spPr>
          <a:xfrm>
            <a:off x="1792440" y="612720"/>
            <a:ext cx="5486040" cy="411444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Made from slide 5's chart.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Before and after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Before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After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03" name="Table 5"/>
          <p:cNvGraphicFramePr/>
          <p:nvPr/>
        </p:nvGraphicFramePr>
        <p:xfrm>
          <a:off x="731520" y="2377440"/>
          <a:ext cx="10515240" cy="146268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Losses went unnoticed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Every loss is listed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One app's view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Any app's re-save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Talk to us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dk1">
                    <a:tint val="75000"/>
                  </a:schemeClr>
                </a:solidFill>
                <a:uFillTx/>
                <a:latin typeface="Calibri"/>
                <a:hlinkClick r:id="rId1"/>
              </a:rPr>
              <a:t>hello@milleleaf.com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dk1">
                    <a:tint val="75000"/>
                  </a:schemeClr>
                </a:solidFill>
                <a:uFillTx/>
                <a:latin typeface="Calibri"/>
                <a:hlinkClick r:id="rId2" action="ppaction://hlinksldjump"/>
              </a:rPr>
              <a:t>Back to the start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6" name="Picture 3" descr="mark.png"/>
          <p:cNvPicPr/>
          <p:nvPr/>
        </p:nvPicPr>
        <p:blipFill>
          <a:blip r:embed="rId3"/>
          <a:stretch/>
        </p:blipFill>
        <p:spPr>
          <a:xfrm>
            <a:off x="10241280" y="365760"/>
            <a:ext cx="16768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Milleleaf</dc:creator>
  <dc:description>generated using python-pptx</dc:description>
  <dc:language>en-US</dc:language>
  <cp:lastModifiedBy>Milleleaf</cp:lastModifiedBy>
  <dcterms:modified xsi:type="dcterms:W3CDTF">2013-01-27T09:15:58Z</dcterms:modified>
  <cp:revision>1</cp:revision>
  <dc:subject/>
  <dc:title>Milleleaf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