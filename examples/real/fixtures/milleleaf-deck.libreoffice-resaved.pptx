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jpeg" ContentType="image/jpe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8FF819DF-FF66-4F6E-B375-5FA1255CE957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Open with what Milleleaf is for: office files that keep their history, whichever app edits them.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Walk through the three promises; the second-level bullets are the detail.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table is the point: merged cells span the app columns.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Each arrow is a connector attached to the boxes it joins.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Bars count round trips; the line shows losses falling as they were fixed.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pie is the mix of formats; the combo puts both measures on one chart.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This picture is cropped on purpose: the crop must survive.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 plain table, no merges, for comparison with slide 3.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857160" y="1143000"/>
            <a:ext cx="5143320" cy="342864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685800" y="4846320"/>
            <a:ext cx="5486040" cy="329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End on the contact address and a way back to the start.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C1057D5-72B4-46D9-A282-AB4CB0BBF1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B31B5195-0823-4065-A71E-AE915C55CF6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DD7D9C7-1F49-42CB-A98B-901C12F073B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15EA9DF2-5202-4FDA-80F8-68927B9F75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5F43CFB-67B0-4D8F-8A59-F39081BB970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5A482073-6A6E-4F14-98BE-7DB6A0C227F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F479B7C1-0FAA-46DE-ABD4-98F26D663A6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F9717C4-AB22-4989-9848-C6966D7732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7B38A25A-CD64-4288-8415-C3048CAAB8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464D09C7-5F45-4E02-9825-C0EAF643281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89396828-177F-471A-B6E1-D4C42EA6000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1744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rm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079E31C-0695-4DB3-85AA-D06E498C85BE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3614B3B-F4F7-4287-8E59-9A7D5B46F0B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8280"/>
            <a:ext cx="270468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ctr" vert="eaVert">
            <a:no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762120" y="368280"/>
            <a:ext cx="7772040" cy="5816160"/>
          </a:xfrm>
          <a:prstGeom prst="rect">
            <a:avLst/>
          </a:prstGeom>
          <a:noFill/>
          <a:ln w="0">
            <a:noFill/>
          </a:ln>
        </p:spPr>
        <p:txBody>
          <a:bodyPr lIns="45000" rIns="45000" tIns="90000" bIns="90000" anchor="t" vert="eaVer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3438675-58B7-4B55-8552-C4657CD4957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1066752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7B3E021-4E18-40ED-A3D3-B0830DE50B7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825480" y="1714680"/>
            <a:ext cx="10540800" cy="2857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60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60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825480" y="4597560"/>
            <a:ext cx="10540800" cy="149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499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2AED8A1-F0A5-4ED7-8613-0FA6BBAD2D9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6212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97760" y="1828800"/>
            <a:ext cx="5231880" cy="4355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A834E48-A552-4764-AAEF-78CE0CFD56E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76212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76212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97760" y="1689120"/>
            <a:ext cx="5231880" cy="786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97760" y="2514600"/>
            <a:ext cx="5231880" cy="366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 fontScale="87480" lnSpcReduction="10000"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346AB9D-05F0-425B-9F89-C9CB83E69BA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762120" y="368280"/>
            <a:ext cx="10667520" cy="1320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rmAutofit/>
          </a:bodyPr>
          <a:p>
            <a:pPr indent="0"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44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31C32F5-46BD-4348-AB6C-5207E2A77CD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0DE2A26-4071-4AE8-BD55-9E7649AC52C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Inte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2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8BEAEBF1-A3AE-41F5-94DD-E800BF26AF4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762120" y="457200"/>
            <a:ext cx="4088880" cy="1599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p>
            <a:pPr indent="0">
              <a:buNone/>
            </a:pPr>
            <a:r>
              <a:rPr b="0" lang="en-US" sz="3200" spc="-1" strike="noStrike">
                <a:solidFill>
                  <a:schemeClr val="dk1"/>
                </a:solidFill>
                <a:latin typeface="Inter"/>
              </a:rPr>
              <a:t>Click to edit the title text format</a:t>
            </a:r>
            <a:endParaRPr b="0" lang="en-US" sz="32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5232240" y="990720"/>
            <a:ext cx="6197400" cy="4876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8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762120" y="2057400"/>
            <a:ext cx="4088880" cy="3809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Click to edit the outline text format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Second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Third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Fourth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Fifth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Sixth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dk1"/>
                </a:solidFill>
                <a:latin typeface="Inter"/>
              </a:rPr>
              <a:t>Seventh Outline Level</a:t>
            </a:r>
            <a:endParaRPr b="0" lang="en-US" sz="1600" spc="-1" strike="noStrike">
              <a:solidFill>
                <a:schemeClr val="dk1"/>
              </a:solidFill>
              <a:latin typeface="Inter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76212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4038480" y="6350040"/>
            <a:ext cx="41144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8686800" y="6350040"/>
            <a:ext cx="274284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0CFE21A8-C546-4EF4-9877-2BD36FD420C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Inter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hyperlink" Target="https://milleleaf.com" TargetMode="External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hyperlink" Target="mailto:hello@milleleaf.com" TargetMode="Externa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mleaf:e17c8f5b-124a-538d-8210-832d1d49cd0d"/>
          <p:cNvSpPr/>
          <p:nvPr/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Milleleaf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mleaf:b06ff99a-fe58-5d2a-b929-271cce54c60c"/>
          <p:cNvSpPr/>
          <p:nvPr/>
        </p:nvSpPr>
        <p:spPr>
          <a:xfrm>
            <a:off x="1371600" y="3886200"/>
            <a:ext cx="6400080" cy="17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algn="ctr">
              <a:lnSpc>
                <a:spcPct val="100000"/>
              </a:lnSpc>
              <a:spcBef>
                <a:spcPts val="641"/>
              </a:spcBef>
              <a:tabLst>
                <a:tab algn="l" pos="0"/>
              </a:tabLst>
            </a:pPr>
            <a:r>
              <a:rPr b="0" lang="en-US" sz="3200" spc="-1" strike="noStrike">
                <a:solidFill>
                  <a:srgbClr val="898989"/>
                </a:solidFill>
                <a:latin typeface="Calibri"/>
              </a:rPr>
              <a:t>Office files you can trust, from any app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" name="mleaf:6dcc2557-f941-5d0a-8286-25fa9a8bb8c3" descr="mark.png"/>
          <p:cNvPicPr/>
          <p:nvPr/>
        </p:nvPicPr>
        <p:blipFill>
          <a:blip r:embed="rId1"/>
          <a:stretch/>
        </p:blipFill>
        <p:spPr>
          <a:xfrm>
            <a:off x="10241280" y="365760"/>
            <a:ext cx="16765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mleaf:5df6afb0-d370-595c-9bb5-a4427b92acb7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What Milleleaf does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mleaf:2c3e6ccb-8456-5c29-94ea-c27cd4bbf21f"/>
          <p:cNvSpPr/>
          <p:nvPr/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Keeps every edit as a signed layer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Who changed what, and when, stays with the file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Reads Word, Excel and PowerPoint files from any app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Re-saves that change nothing come back as no change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Says what it can't carry, instead of losing it quietly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 u="sng">
                <a:solidFill>
                  <a:srgbClr val="2e6fd8"/>
                </a:solidFill>
                <a:uFillTx/>
                <a:latin typeface="Calibri"/>
                <a:hlinkClick r:id="rId1"/>
              </a:rPr>
              <a:t>milleleaf.com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mleaf:87145175-ada9-53e8-87bb-7ae36098a209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What comes back from each app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mleaf:d08f732f-2569-5de9-bd79-71c56621940e"/>
          <p:cNvSpPr/>
          <p:nvPr/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 marL="343080" indent="-34308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rgbClr val="000000"/>
                </a:solidFill>
                <a:latin typeface="Calibri"/>
              </a:rPr>
              <a:t>Re-saves are compared with what Milleleaf would export.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0" name="mleaf:c13a316c-a4e6-54d1-ba22-3d1990e38814"/>
          <p:cNvGraphicFramePr/>
          <p:nvPr/>
        </p:nvGraphicFramePr>
        <p:xfrm>
          <a:off x="457200" y="1600200"/>
          <a:ext cx="4037760" cy="2194560"/>
        </p:xfrm>
        <a:graphic>
          <a:graphicData uri="http://schemas.openxmlformats.org/drawingml/2006/table">
            <a:tbl>
              <a:tblPr/>
              <a:tblGrid>
                <a:gridCol w="1346040"/>
                <a:gridCol w="1346040"/>
                <a:gridCol w="1346040"/>
              </a:tblGrid>
              <a:tr h="548640">
                <a:tc rowSpan="2"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Format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Saved by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54864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LibreOffice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PowerPoint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Slides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no change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  <a:tr h="54864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Charts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listed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mleaf:112d1341-5f3b-5774-b9f9-c9c8124aa696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How an edit comes back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mleaf:fe89d69a-83d4-5679-a3d3-ccad43f16ace"/>
          <p:cNvSpPr/>
          <p:nvPr/>
        </p:nvSpPr>
        <p:spPr>
          <a:xfrm>
            <a:off x="73152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Adopt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mleaf:70cfccb9-8743-5ee2-8d22-d3833a134ac8"/>
          <p:cNvSpPr/>
          <p:nvPr/>
        </p:nvSpPr>
        <p:spPr>
          <a:xfrm>
            <a:off x="356616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Export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mleaf:3d3b2f75-54d3-5bd3-8ff9-2a9378bc2943"/>
          <p:cNvSpPr/>
          <p:nvPr/>
        </p:nvSpPr>
        <p:spPr>
          <a:xfrm>
            <a:off x="640080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Edit anywhere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mleaf:b66f34d0-0949-5c9c-819a-5041c656bd48"/>
          <p:cNvSpPr/>
          <p:nvPr/>
        </p:nvSpPr>
        <p:spPr>
          <a:xfrm>
            <a:off x="9235440" y="2743200"/>
            <a:ext cx="2193840" cy="1096560"/>
          </a:xfrm>
          <a:prstGeom prst="roundRect">
            <a:avLst>
              <a:gd name="adj" fmla="val 16667"/>
            </a:avLst>
          </a:prstGeom>
          <a:solidFill>
            <a:srgbClr val="97dbc2"/>
          </a:solidFill>
          <a:ln w="25432">
            <a:solidFill>
              <a:srgbClr val="09c8b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0b1326"/>
                </a:solidFill>
                <a:latin typeface="Calibri"/>
              </a:rPr>
              <a:t>Import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cxnSp>
        <p:nvCxnSpPr>
          <p:cNvPr id="86" name="mleaf:e8b48068-ea77-586c-ab43-627cb00f233d"/>
          <p:cNvCxnSpPr>
            <a:stCxn id="82" idx="3"/>
            <a:endCxn id="83" idx="1"/>
          </p:cNvCxnSpPr>
          <p:nvPr/>
        </p:nvCxnSpPr>
        <p:spPr>
          <a:xfrm>
            <a:off x="2926080" y="3291840"/>
            <a:ext cx="640800" cy="720"/>
          </a:xfrm>
          <a:prstGeom prst="straightConnector1">
            <a:avLst/>
          </a:prstGeom>
          <a:ln w="19050">
            <a:solidFill>
              <a:srgbClr val="0b1326"/>
            </a:solidFill>
            <a:round/>
            <a:tailEnd len="med" type="triangle" w="med"/>
          </a:ln>
        </p:spPr>
      </p:cxnSp>
      <p:cxnSp>
        <p:nvCxnSpPr>
          <p:cNvPr id="87" name="mleaf:0229f7e3-cbf1-5f84-8efb-30ffee4db22b"/>
          <p:cNvCxnSpPr>
            <a:stCxn id="83" idx="3"/>
            <a:endCxn id="84" idx="1"/>
          </p:cNvCxnSpPr>
          <p:nvPr/>
        </p:nvCxnSpPr>
        <p:spPr>
          <a:xfrm>
            <a:off x="5760720" y="3291840"/>
            <a:ext cx="640800" cy="720"/>
          </a:xfrm>
          <a:prstGeom prst="straightConnector1">
            <a:avLst/>
          </a:prstGeom>
          <a:ln w="19050">
            <a:solidFill>
              <a:srgbClr val="0b1326"/>
            </a:solidFill>
            <a:round/>
            <a:tailEnd len="med" type="triangle" w="med"/>
          </a:ln>
        </p:spPr>
      </p:cxnSp>
      <p:cxnSp>
        <p:nvCxnSpPr>
          <p:cNvPr id="88" name="mleaf:763fe3e3-fef1-5f8a-8a43-26372e2391ba"/>
          <p:cNvCxnSpPr>
            <a:stCxn id="84" idx="3"/>
            <a:endCxn id="85" idx="1"/>
          </p:cNvCxnSpPr>
          <p:nvPr/>
        </p:nvCxnSpPr>
        <p:spPr>
          <a:xfrm>
            <a:off x="8595360" y="3291840"/>
            <a:ext cx="640800" cy="720"/>
          </a:xfrm>
          <a:prstGeom prst="straightConnector1">
            <a:avLst/>
          </a:prstGeom>
          <a:ln w="19050">
            <a:solidFill>
              <a:srgbClr val="0b1326"/>
            </a:solidFill>
            <a:round/>
            <a:tailEnd len="med" type="triangle" w="med"/>
          </a:ln>
        </p:spPr>
      </p:cxnSp>
      <p:cxnSp>
        <p:nvCxnSpPr>
          <p:cNvPr id="89" name="mleaf:ab78373f-7016-55cb-9826-f9af625bb9ae"/>
          <p:cNvCxnSpPr/>
          <p:nvPr/>
        </p:nvCxnSpPr>
        <p:spPr>
          <a:xfrm>
            <a:off x="731520" y="4389120"/>
            <a:ext cx="10242000" cy="720"/>
          </a:xfrm>
          <a:prstGeom prst="straightConnector1">
            <a:avLst/>
          </a:prstGeom>
          <a:ln w="19050">
            <a:solidFill>
              <a:srgbClr val="489557"/>
            </a:solidFill>
            <a:prstDash val="dash"/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mleaf:a4853a04-5b4d-5543-96ac-05ef78137a1b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A week of round trips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mleaf:1c3f0704-0f0a-589e-95fa-7282b64fdcef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Where the files come from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mleaf:3931a9cf-2762-58da-8f6b-4844649bda74"/>
          <p:cNvSpPr/>
          <p:nvPr/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000000"/>
                </a:solidFill>
                <a:latin typeface="Calibri"/>
              </a:rPr>
              <a:t>The chart, as a picture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3" name="mleaf:535f73ca-aa6c-563e-bc0a-7f2ebb8a8725" descr="chart.jpg"/>
          <p:cNvPicPr/>
          <p:nvPr/>
        </p:nvPicPr>
        <p:blipFill>
          <a:blip r:embed="rId1"/>
          <a:srcRect l="8002" t="10000" r="5000" b="4000"/>
          <a:stretch/>
        </p:blipFill>
        <p:spPr>
          <a:xfrm>
            <a:off x="1792440" y="612720"/>
            <a:ext cx="5485680" cy="4114080"/>
          </a:xfrm>
          <a:prstGeom prst="rect">
            <a:avLst/>
          </a:prstGeom>
          <a:ln w="0">
            <a:noFill/>
          </a:ln>
        </p:spPr>
      </p:pic>
      <p:sp>
        <p:nvSpPr>
          <p:cNvPr id="94" name="mleaf:a79d358b-948a-58de-8699-2d23702ab6f6"/>
          <p:cNvSpPr/>
          <p:nvPr/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spcBef>
                <a:spcPts val="281"/>
              </a:spcBef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Calibri"/>
              </a:rPr>
              <a:t>Made from slide 5's chart.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mleaf:783617a4-9f7d-5fb8-b072-ad493db17293"/>
          <p:cNvSpPr/>
          <p:nvPr/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0" lang="en-US" sz="4400" spc="-1" strike="noStrike">
                <a:solidFill>
                  <a:srgbClr val="000000"/>
                </a:solidFill>
                <a:latin typeface="Calibri"/>
              </a:rPr>
              <a:t>Before and after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mleaf:194a2640-dc98-5c48-83a4-6e5a553640c9"/>
          <p:cNvSpPr/>
          <p:nvPr/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Calibri"/>
              </a:rPr>
              <a:t>Before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mleaf:9681ce91-66e6-5999-98a0-e1988d51754e"/>
          <p:cNvSpPr/>
          <p:nvPr/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spcBef>
                <a:spcPts val="479"/>
              </a:spcBef>
              <a:tabLst>
                <a:tab algn="l" pos="0"/>
              </a:tabLst>
            </a:pPr>
            <a:r>
              <a:rPr b="1" lang="en-US" sz="2400" spc="-1" strike="noStrike">
                <a:solidFill>
                  <a:srgbClr val="000000"/>
                </a:solidFill>
                <a:latin typeface="Calibri"/>
              </a:rPr>
              <a:t>After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98" name="mleaf:9a9d4429-ffc4-514f-bd70-68ca13e2bfb1"/>
          <p:cNvGraphicFramePr/>
          <p:nvPr/>
        </p:nvGraphicFramePr>
        <p:xfrm>
          <a:off x="731520" y="2377440"/>
          <a:ext cx="10515240" cy="1461960"/>
        </p:xfrm>
        <a:graphic>
          <a:graphicData uri="http://schemas.openxmlformats.org/drawingml/2006/table">
            <a:tbl>
              <a:tblPr/>
              <a:tblGrid>
                <a:gridCol w="5257800"/>
                <a:gridCol w="5257800"/>
              </a:tblGrid>
              <a:tr h="487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  <a:endParaRPr b="0" lang="en-US" sz="18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4f81bd"/>
                    </a:solidFill>
                  </a:tcPr>
                </a:tc>
              </a:tr>
              <a:tr h="487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Losses went unnoticed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Every loss is listed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4870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One app's view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Calibri"/>
                        </a:rPr>
                        <a:t>Any app's re-save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9ecf3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mleaf:119b3989-72c9-50df-ae8e-4dbc13d49f4e"/>
          <p:cNvSpPr/>
          <p:nvPr/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000000"/>
                </a:solidFill>
                <a:latin typeface="Calibri"/>
              </a:rPr>
              <a:t>Talk to us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mleaf:52cb8aaf-58b4-557a-bb3c-ec7236b79f07"/>
          <p:cNvSpPr/>
          <p:nvPr/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Autofit/>
          </a:bodyPr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2e6fd8"/>
                </a:solidFill>
                <a:uFillTx/>
                <a:latin typeface="Calibri"/>
                <a:hlinkClick r:id="rId1"/>
              </a:rPr>
              <a:t>hello@milleleaf.com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  <a:tabLst>
                <a:tab algn="l" pos="0"/>
              </a:tabLst>
            </a:pPr>
            <a:r>
              <a:rPr b="0" lang="en-US" sz="2000" spc="-1" strike="noStrike" u="sng">
                <a:solidFill>
                  <a:srgbClr val="898989"/>
                </a:solidFill>
                <a:uFillTx/>
                <a:latin typeface="Calibri"/>
              </a:rPr>
              <a:t>Back to the start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1" name="mleaf:b7e5fa70-def2-5cf6-bac7-32a86718c29c" descr="mark.png"/>
          <p:cNvPicPr/>
          <p:nvPr/>
        </p:nvPicPr>
        <p:blipFill>
          <a:blip r:embed="rId2"/>
          <a:stretch/>
        </p:blipFill>
        <p:spPr>
          <a:xfrm>
            <a:off x="10241280" y="365760"/>
            <a:ext cx="1676520" cy="1462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ckCraft">
  <a:themeElements>
    <a:clrScheme name="DeckCraft">
      <a:dk1>
        <a:srgbClr val="000000"/>
      </a:dk1>
      <a:lt1>
        <a:srgbClr val="ffffff"/>
      </a:lt1>
      <a:dk2>
        <a:srgbClr val="1e2b3c"/>
      </a:dk2>
      <a:lt2>
        <a:srgbClr val="edebe7"/>
      </a:lt2>
      <a:accent1>
        <a:srgbClr val="2e6fd8"/>
      </a:accent1>
      <a:accent2>
        <a:srgbClr val="f26b1d"/>
      </a:accent2>
      <a:accent3>
        <a:srgbClr val="2ea36f"/>
      </a:accent3>
      <a:accent4>
        <a:srgbClr val="8a5cd8"/>
      </a:accent4>
      <a:accent5>
        <a:srgbClr val="d83f6b"/>
      </a:accent5>
      <a:accent6>
        <a:srgbClr val="e3b21c"/>
      </a:accent6>
      <a:hlink>
        <a:srgbClr val="2e6fd8"/>
      </a:hlink>
      <a:folHlink>
        <a:srgbClr val="7a5ba6"/>
      </a:folHlink>
    </a:clrScheme>
    <a:fontScheme name="DeckCraft">
      <a:majorFont>
        <a:latin typeface="Inter" pitchFamily="0" charset="1"/>
        <a:ea typeface=""/>
        <a:cs typeface=""/>
      </a:majorFont>
      <a:minorFont>
        <a:latin typeface="Inter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5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  <a:tileRect l="0" t="0" r="0" b="0"/>
        </a:gradFill>
      </a:fillStyleLst>
      <a:lnStyleLst>
        <a:ln w="9525"/>
        <a:ln w="12700"/>
        <a:ln w="19050"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lumMod val="102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cp:keywords>mleafdeck=1384e197-120e-59ea-b738-9941afeb276f mleafrevision=b795dbd3073d14f0fea568b9</cp:keywords>
  <dc:language>en-US</dc:language>
  <cp:lastModifiedBy/>
  <cp:revision>0</cp:revision>
  <dc:subject/>
  <dc:title>milleleaf-deck.impress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Slides">
    <vt:r8>9</vt:r8>
  </property>
</Properties>
</file>