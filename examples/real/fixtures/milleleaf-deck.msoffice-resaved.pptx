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94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9060" y="0"/>
            <a:ext cx="294894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846320"/>
            <a:ext cx="5486400" cy="3291840"/>
          </a:xfrm>
          <a:prstGeom prst="rect">
            <a:avLst/>
          </a:prstGeom>
        </p:spPr>
        <p:txBody>
          <a:bodyPr/>
          <a:lstStyle/>
          <a:p>
            <a:r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4894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9060" y="8686800"/>
            <a:ext cx="294894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  <a:lvl2pPr marL="457200" algn="l">
      <a:defRPr sz="1200">
        <a:solidFill>
          <a:schemeClr val="tx1"/>
        </a:solidFill>
        <a:latin typeface="+mn-lt"/>
      </a:defRPr>
    </a:lvl2pPr>
    <a:lvl3pPr marL="914400" algn="l">
      <a:defRPr sz="1200">
        <a:solidFill>
          <a:schemeClr val="tx1"/>
        </a:solidFill>
        <a:latin typeface="+mn-lt"/>
      </a:defRPr>
    </a:lvl3pPr>
    <a:lvl4pPr marL="1371600" algn="l">
      <a:defRPr sz="1200">
        <a:solidFill>
          <a:schemeClr val="tx1"/>
        </a:solidFill>
        <a:latin typeface="+mn-lt"/>
      </a:defRPr>
    </a:lvl4pPr>
    <a:lvl5pPr marL="1828800" algn="l">
      <a:defRPr sz="1200">
        <a:solidFill>
          <a:schemeClr val="tx1"/>
        </a:solidFill>
        <a:latin typeface="+mn-lt"/>
      </a:defRPr>
    </a:lvl5pPr>
    <a:lvl6pPr marL="2286000" algn="l">
      <a:defRPr sz="1200">
        <a:solidFill>
          <a:schemeClr val="tx1"/>
        </a:solidFill>
        <a:latin typeface="+mn-lt"/>
      </a:defRPr>
    </a:lvl6pPr>
    <a:lvl7pPr marL="2743200" algn="l">
      <a:defRPr sz="1200">
        <a:solidFill>
          <a:schemeClr val="tx1"/>
        </a:solidFill>
        <a:latin typeface="+mn-lt"/>
      </a:defRPr>
    </a:lvl7pPr>
    <a:lvl8pPr marL="3200400" algn="l">
      <a:defRPr sz="1200">
        <a:solidFill>
          <a:schemeClr val="tx1"/>
        </a:solidFill>
        <a:latin typeface="+mn-lt"/>
      </a:defRPr>
    </a:lvl8pPr>
    <a:lvl9pPr marL="3657600" algn="l">
      <a:defRPr sz="1200">
        <a:solidFill>
          <a:schemeClr val="tx1"/>
        </a:solidFill>
        <a:latin typeface="+mn-lt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what Milleleaf is for: office files that keep their history, whichever app edits them.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three promises; the second-level bullets are the detail.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table is the point: merged cells span the app columns.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arrow is a connector attached to the boxes it joins.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Bars count round trips; the line shows losses falling as they were fixed.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pie is the mix of formats; the combo puts both measures on one chart.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picture is cropped on purpose: the crop must survive.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plain table, no merges, for comparison with slide 3.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 on the contact address and a way back to the start.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endParaRPr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/>
          </a:p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endParaRPr/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endParaRPr/>
          </a:p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endParaRPr/>
          </a:p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endParaRPr/>
          </a:p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>
            <a:endParaRPr/>
          </a:p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endParaRPr/>
          </a:p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>
            <a:endParaRPr/>
          </a:p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>
            <a:endParaRPr/>
          </a:p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>
            <a:endParaRPr/>
          </a:p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>
            <a:endParaRPr/>
          </a:p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kCra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r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illeleaf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hello@milleleaf.co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x:a4dda6e5-3f88-50cc-a60f-0cfc36f762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ox:e17c8f5b-124a-538d-8210-832d1d49cd0d"/>
          <p:cNvSpPr txBox="1"/>
          <p:nvPr/>
        </p:nvSpPr>
        <p:spPr>
          <a:xfrm>
            <a:off x="685800" y="2130457"/>
            <a:ext cx="7772019" cy="146951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4400">
                <a:solidFill>
                  <a:srgbClr val="000000"/>
                </a:solidFill>
                <a:latin typeface="Calibri"/>
              </a:rPr>
              <a:t>Milleleaf</a:t>
            </a:r>
          </a:p>
        </p:txBody>
      </p:sp>
      <p:sp>
        <p:nvSpPr>
          <p:cNvPr id="259" name="ox:b06ff99a-fe58-5d2a-b929-271cce54c60c"/>
          <p:cNvSpPr txBox="1"/>
          <p:nvPr/>
        </p:nvSpPr>
        <p:spPr>
          <a:xfrm>
            <a:off x="1371600" y="3886200"/>
            <a:ext cx="6400419" cy="17521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641"/>
              </a:spcBef>
              <a:buNone/>
            </a:pPr>
            <a:r>
              <a:rPr sz="3200">
                <a:solidFill>
                  <a:srgbClr val="898989"/>
                </a:solidFill>
                <a:latin typeface="Calibri"/>
              </a:rPr>
              <a:t>Office files you can trust, from any app</a:t>
            </a:r>
          </a:p>
        </p:txBody>
      </p:sp>
      <p:pic>
        <p:nvPicPr>
          <p:cNvPr id="260" name="ox:6dcc2557-f941-5d0a-8286-25fa9a8bb8c3" descr="mark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241280" y="365760"/>
            <a:ext cx="1676876" cy="14626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x:2c51316c-fa2f-5343-a4db-aa6cd152efa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ox:5df6afb0-d370-595c-9bb5-a4427b92acb7"/>
          <p:cNvSpPr txBox="1"/>
          <p:nvPr/>
        </p:nvSpPr>
        <p:spPr>
          <a:xfrm>
            <a:off x="457200" y="274701"/>
            <a:ext cx="8229219" cy="11426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4400">
                <a:solidFill>
                  <a:srgbClr val="000000"/>
                </a:solidFill>
                <a:latin typeface="Calibri"/>
              </a:rPr>
              <a:t>What Milleleaf does</a:t>
            </a:r>
          </a:p>
        </p:txBody>
      </p:sp>
      <p:sp>
        <p:nvSpPr>
          <p:cNvPr id="264" name="ox:2c3e6ccb-8456-5c29-94ea-c27cd4bbf21f"/>
          <p:cNvSpPr txBox="1"/>
          <p:nvPr/>
        </p:nvSpPr>
        <p:spPr>
          <a:xfrm>
            <a:off x="457200" y="1600200"/>
            <a:ext cx="8229219" cy="452551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>
                <a:solidFill>
                  <a:srgbClr val="000000"/>
                </a:solidFill>
                <a:latin typeface="Calibri"/>
              </a:rPr>
              <a:t>Keeps every edit as a signed layer</a:t>
            </a:r>
          </a:p>
          <a:p>
            <a:pPr marL="743040" lvl="1" indent="-28584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>
                <a:solidFill>
                  <a:srgbClr val="000000"/>
                </a:solidFill>
                <a:latin typeface="Calibri"/>
              </a:rPr>
              <a:t>Who changed what, and when, stays with the file</a:t>
            </a:r>
          </a:p>
          <a:p>
            <a: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>
                <a:solidFill>
                  <a:srgbClr val="000000"/>
                </a:solidFill>
                <a:latin typeface="Calibri"/>
              </a:rPr>
              <a:t>Reads Word, Excel and PowerPoint files from any app</a:t>
            </a:r>
          </a:p>
          <a:p>
            <a:pPr marL="743040" lvl="1" indent="-28584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sz="2800">
                <a:solidFill>
                  <a:srgbClr val="000000"/>
                </a:solidFill>
                <a:latin typeface="Calibri"/>
              </a:rPr>
              <a:t>Re-saves that change nothing come back as no change</a:t>
            </a:r>
          </a:p>
          <a:p>
            <a: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>
                <a:solidFill>
                  <a:srgbClr val="000000"/>
                </a:solidFill>
                <a:latin typeface="Calibri"/>
              </a:rPr>
              <a:t>Says what it can't carry, instead of losing it quietly</a:t>
            </a:r>
          </a:p>
          <a:p>
            <a:pPr marL="343080" indent="-343080" algn="l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sz="3200" u="sng">
                <a:solidFill>
                  <a:srgbClr val="000000"/>
                </a:solidFill>
                <a:latin typeface="Calibri"/>
                <a:hlinkClick r:id="rId3"/>
              </a:rPr>
              <a:t>milleleaf.com</a:t>
            </a:r>
            <a:endParaRPr sz="3200" u="sng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x:fe484066-e0eb-58cf-a008-440e842b56c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ox:87145175-ada9-53e8-87bb-7ae36098a209"/>
          <p:cNvSpPr txBox="1"/>
          <p:nvPr/>
        </p:nvSpPr>
        <p:spPr>
          <a:xfrm>
            <a:off x="457200" y="274701"/>
            <a:ext cx="8229219" cy="11426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4400">
                <a:solidFill>
                  <a:srgbClr val="000000"/>
                </a:solidFill>
                <a:latin typeface="Calibri"/>
              </a:rPr>
              <a:t>What comes back from each app</a:t>
            </a:r>
          </a:p>
        </p:txBody>
      </p:sp>
      <p:sp>
        <p:nvSpPr>
          <p:cNvPr id="267" name="ox:d08f732f-2569-5de9-bd79-71c56621940e"/>
          <p:cNvSpPr txBox="1"/>
          <p:nvPr/>
        </p:nvSpPr>
        <p:spPr>
          <a:xfrm>
            <a:off x="4648295" y="1600200"/>
            <a:ext cx="4038124" cy="452551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343080" indent="-343080" algn="l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sz="2800">
                <a:solidFill>
                  <a:srgbClr val="000000"/>
                </a:solidFill>
                <a:latin typeface="Calibri"/>
              </a:rPr>
              <a:t>Re-saves are compared with what Milleleaf would export.</a:t>
            </a:r>
          </a:p>
        </p:txBody>
      </p:sp>
      <p:graphicFrame>
        <p:nvGraphicFramePr>
          <p:cNvPr id="268" name="ox:c13a316c-a4e6-54d1-ba22-3d1990e38814"/>
          <p:cNvGraphicFramePr>
            <a:graphicFrameLocks noGrp="1"/>
          </p:cNvGraphicFramePr>
          <p:nvPr/>
        </p:nvGraphicFramePr>
        <p:xfrm>
          <a:off x="457200" y="1600200"/>
          <a:ext cx="4038124" cy="21945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46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 rowSpan="2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Saved by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/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LibreOffice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PowerPoint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Slides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no change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no change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Charts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listed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listed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x:ee934aa1-9f2f-56a4-8cc6-99db20fc969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ox:112d1341-5f3b-5774-b9f9-c9c8124aa696"/>
          <p:cNvSpPr txBox="1"/>
          <p:nvPr/>
        </p:nvSpPr>
        <p:spPr>
          <a:xfrm>
            <a:off x="457200" y="274701"/>
            <a:ext cx="8229219" cy="11426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4400">
                <a:solidFill>
                  <a:srgbClr val="000000"/>
                </a:solidFill>
                <a:latin typeface="Calibri"/>
              </a:rPr>
              <a:t>How an edit comes back</a:t>
            </a:r>
          </a:p>
        </p:txBody>
      </p:sp>
      <p:sp>
        <p:nvSpPr>
          <p:cNvPr id="271" name="ox:fe89d69a-83d4-5679-a3d3-ccad43f16ace"/>
          <p:cNvSpPr/>
          <p:nvPr/>
        </p:nvSpPr>
        <p:spPr>
          <a:xfrm>
            <a:off x="731520" y="2743200"/>
            <a:ext cx="2194179" cy="1096899"/>
          </a:xfrm>
          <a:prstGeom prst="roundRect">
            <a:avLst/>
          </a:prstGeom>
          <a:solidFill>
            <a:srgbClr val="97DBC2"/>
          </a:solidFill>
          <a:ln w="25432">
            <a:solidFill>
              <a:srgbClr val="09C8BA"/>
            </a:solidFill>
          </a:ln>
        </p:spPr>
        <p:txBody>
          <a:bodyPr wrap="square" lIns="90011" tIns="44958" rIns="90011" bIns="44958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>
                <a:solidFill>
                  <a:srgbClr val="0B1326"/>
                </a:solidFill>
                <a:latin typeface="Calibri"/>
              </a:rPr>
              <a:t>Adopt</a:t>
            </a:r>
          </a:p>
        </p:txBody>
      </p:sp>
      <p:sp>
        <p:nvSpPr>
          <p:cNvPr id="272" name="ox:70cfccb9-8743-5ee2-8d22-d3833a134ac8"/>
          <p:cNvSpPr/>
          <p:nvPr/>
        </p:nvSpPr>
        <p:spPr>
          <a:xfrm>
            <a:off x="3566160" y="2743200"/>
            <a:ext cx="2194179" cy="1096899"/>
          </a:xfrm>
          <a:prstGeom prst="roundRect">
            <a:avLst/>
          </a:prstGeom>
          <a:solidFill>
            <a:srgbClr val="97DBC2"/>
          </a:solidFill>
          <a:ln w="25432">
            <a:solidFill>
              <a:srgbClr val="09C8BA"/>
            </a:solidFill>
          </a:ln>
        </p:spPr>
        <p:txBody>
          <a:bodyPr wrap="square" lIns="90011" tIns="44958" rIns="90011" bIns="44958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>
                <a:solidFill>
                  <a:srgbClr val="0B1326"/>
                </a:solidFill>
                <a:latin typeface="Calibri"/>
              </a:rPr>
              <a:t>Export</a:t>
            </a:r>
          </a:p>
        </p:txBody>
      </p:sp>
      <p:sp>
        <p:nvSpPr>
          <p:cNvPr id="273" name="ox:3d3b2f75-54d3-5bd3-8ff9-2a9378bc2943"/>
          <p:cNvSpPr/>
          <p:nvPr/>
        </p:nvSpPr>
        <p:spPr>
          <a:xfrm>
            <a:off x="6400800" y="2743200"/>
            <a:ext cx="2194179" cy="1096899"/>
          </a:xfrm>
          <a:prstGeom prst="roundRect">
            <a:avLst/>
          </a:prstGeom>
          <a:solidFill>
            <a:srgbClr val="97DBC2"/>
          </a:solidFill>
          <a:ln w="25432">
            <a:solidFill>
              <a:srgbClr val="09C8BA"/>
            </a:solidFill>
          </a:ln>
        </p:spPr>
        <p:txBody>
          <a:bodyPr wrap="square" lIns="90011" tIns="44958" rIns="90011" bIns="44958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>
                <a:solidFill>
                  <a:srgbClr val="0B1326"/>
                </a:solidFill>
                <a:latin typeface="Calibri"/>
              </a:rPr>
              <a:t>Edit anywhere</a:t>
            </a:r>
          </a:p>
        </p:txBody>
      </p:sp>
      <p:sp>
        <p:nvSpPr>
          <p:cNvPr id="274" name="ox:b66f34d0-0949-5c9c-819a-5041c656bd48"/>
          <p:cNvSpPr/>
          <p:nvPr/>
        </p:nvSpPr>
        <p:spPr>
          <a:xfrm>
            <a:off x="9235440" y="2743200"/>
            <a:ext cx="2194179" cy="1096899"/>
          </a:xfrm>
          <a:prstGeom prst="roundRect">
            <a:avLst/>
          </a:prstGeom>
          <a:solidFill>
            <a:srgbClr val="97DBC2"/>
          </a:solidFill>
          <a:ln w="25432">
            <a:solidFill>
              <a:srgbClr val="09C8BA"/>
            </a:solidFill>
          </a:ln>
        </p:spPr>
        <p:txBody>
          <a:bodyPr wrap="square" lIns="90011" tIns="44958" rIns="90011" bIns="44958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800">
                <a:solidFill>
                  <a:srgbClr val="0B1326"/>
                </a:solidFill>
                <a:latin typeface="Calibri"/>
              </a:rPr>
              <a:t>Import</a:t>
            </a:r>
          </a:p>
        </p:txBody>
      </p:sp>
      <p:cxnSp>
        <p:nvCxnSpPr>
          <p:cNvPr id="275" name="ox:e8b48068-ea77-586c-ab43-627cb00f233d"/>
          <p:cNvCxnSpPr>
            <a:stCxn id="271" idx="3"/>
            <a:endCxn id="272" idx="1"/>
          </p:cNvCxnSpPr>
          <p:nvPr/>
        </p:nvCxnSpPr>
        <p:spPr>
          <a:xfrm>
            <a:off x="2926080" y="3291840"/>
            <a:ext cx="640461" cy="381"/>
          </a:xfrm>
          <a:prstGeom prst="straightConnector1">
            <a:avLst/>
          </a:prstGeom>
          <a:noFill/>
          <a:ln w="19050">
            <a:solidFill>
              <a:srgbClr val="0B1326"/>
            </a:solidFill>
            <a:round/>
            <a:tailEnd type="triangle" w="med" len="med"/>
          </a:ln>
        </p:spPr>
      </p:cxnSp>
      <p:cxnSp>
        <p:nvCxnSpPr>
          <p:cNvPr id="276" name="ox:0229f7e3-cbf1-5f84-8efb-30ffee4db22b"/>
          <p:cNvCxnSpPr>
            <a:stCxn id="272" idx="3"/>
            <a:endCxn id="273" idx="1"/>
          </p:cNvCxnSpPr>
          <p:nvPr/>
        </p:nvCxnSpPr>
        <p:spPr>
          <a:xfrm>
            <a:off x="5760720" y="3291840"/>
            <a:ext cx="640461" cy="381"/>
          </a:xfrm>
          <a:prstGeom prst="straightConnector1">
            <a:avLst/>
          </a:prstGeom>
          <a:noFill/>
          <a:ln w="19050">
            <a:solidFill>
              <a:srgbClr val="0B1326"/>
            </a:solidFill>
            <a:round/>
            <a:tailEnd type="triangle" w="med" len="med"/>
          </a:ln>
        </p:spPr>
      </p:cxnSp>
      <p:cxnSp>
        <p:nvCxnSpPr>
          <p:cNvPr id="277" name="ox:763fe3e3-fef1-5f8a-8a43-26372e2391ba"/>
          <p:cNvCxnSpPr>
            <a:stCxn id="273" idx="3"/>
            <a:endCxn id="274" idx="1"/>
          </p:cNvCxnSpPr>
          <p:nvPr/>
        </p:nvCxnSpPr>
        <p:spPr>
          <a:xfrm>
            <a:off x="8595360" y="3291840"/>
            <a:ext cx="640461" cy="381"/>
          </a:xfrm>
          <a:prstGeom prst="straightConnector1">
            <a:avLst/>
          </a:prstGeom>
          <a:noFill/>
          <a:ln w="19050">
            <a:solidFill>
              <a:srgbClr val="0B1326"/>
            </a:solidFill>
            <a:round/>
            <a:tailEnd type="triangle" w="med" len="med"/>
          </a:ln>
        </p:spPr>
      </p:cxnSp>
      <p:cxnSp>
        <p:nvCxnSpPr>
          <p:cNvPr id="278" name="ox:ab78373f-7016-55cb-9826-f9af625bb9ae"/>
          <p:cNvCxnSpPr/>
          <p:nvPr/>
        </p:nvCxnSpPr>
        <p:spPr>
          <a:xfrm>
            <a:off x="731520" y="4389120"/>
            <a:ext cx="10241661" cy="381"/>
          </a:xfrm>
          <a:prstGeom prst="straightConnector1">
            <a:avLst/>
          </a:prstGeom>
          <a:noFill/>
          <a:ln w="19050">
            <a:solidFill>
              <a:srgbClr val="489557"/>
            </a:solidFill>
            <a:prstDash val="dash"/>
            <a:round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x:d9a80f20-1e58-5d54-abaf-5b8a154225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ox:a4853a04-5b4d-5543-96ac-05ef78137a1b"/>
          <p:cNvSpPr txBox="1"/>
          <p:nvPr/>
        </p:nvSpPr>
        <p:spPr>
          <a:xfrm>
            <a:off x="457200" y="274701"/>
            <a:ext cx="8229219" cy="11426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4400">
                <a:solidFill>
                  <a:srgbClr val="000000"/>
                </a:solidFill>
                <a:latin typeface="Calibri"/>
              </a:rPr>
              <a:t>A week of round trips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x:d26a4c28-8f12-5c03-9ffe-6cb0f1a48f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ox:1c3f0704-0f0a-589e-95fa-7282b64fdcef"/>
          <p:cNvSpPr txBox="1"/>
          <p:nvPr/>
        </p:nvSpPr>
        <p:spPr>
          <a:xfrm>
            <a:off x="457200" y="274701"/>
            <a:ext cx="8229219" cy="11426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4400">
                <a:solidFill>
                  <a:srgbClr val="000000"/>
                </a:solidFill>
                <a:latin typeface="Calibri"/>
              </a:rPr>
              <a:t>Where the files come from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x:fce8316d-0d18-528c-ab9c-6300c6f3f4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ox:3931a9cf-2762-58da-8f6b-4844649bda74"/>
          <p:cNvSpPr txBox="1"/>
          <p:nvPr/>
        </p:nvSpPr>
        <p:spPr>
          <a:xfrm>
            <a:off x="1792415" y="4800600"/>
            <a:ext cx="5486019" cy="56626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2000" b="1">
                <a:solidFill>
                  <a:srgbClr val="000000"/>
                </a:solidFill>
                <a:latin typeface="Calibri"/>
              </a:rPr>
              <a:t>The chart, as a picture</a:t>
            </a:r>
          </a:p>
        </p:txBody>
      </p:sp>
      <p:pic>
        <p:nvPicPr>
          <p:cNvPr id="285" name="ox:535f73ca-aa6c-563e-bc0a-7f2ebb8a8725" descr="chart.jpg"/>
          <p:cNvPicPr>
            <a:picLocks noChangeAspect="1"/>
          </p:cNvPicPr>
          <p:nvPr/>
        </p:nvPicPr>
        <p:blipFill rotWithShape="1">
          <a:blip r:embed="rId3"/>
          <a:srcRect l="8000" t="10000" r="5000" b="4000"/>
          <a:stretch>
            <a:fillRect/>
          </a:stretch>
        </p:blipFill>
        <p:spPr>
          <a:xfrm>
            <a:off x="1792415" y="612743"/>
            <a:ext cx="5486019" cy="4114419"/>
          </a:xfrm>
          <a:prstGeom prst="rect">
            <a:avLst/>
          </a:prstGeom>
        </p:spPr>
      </p:pic>
      <p:sp>
        <p:nvSpPr>
          <p:cNvPr id="287" name="ox:a79d358b-948a-58de-8699-2d23702ab6f6"/>
          <p:cNvSpPr txBox="1"/>
          <p:nvPr/>
        </p:nvSpPr>
        <p:spPr>
          <a:xfrm>
            <a:off x="1792415" y="5367242"/>
            <a:ext cx="5486019" cy="8045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sz="1400">
                <a:solidFill>
                  <a:srgbClr val="000000"/>
                </a:solidFill>
                <a:latin typeface="Calibri"/>
              </a:rPr>
              <a:t>Made from slide 5's chart.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x:97c0dd8d-a375-5dfa-82e0-612ec64d5d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ox:783617a4-9f7d-5fb8-b072-ad493db17293"/>
          <p:cNvSpPr txBox="1"/>
          <p:nvPr/>
        </p:nvSpPr>
        <p:spPr>
          <a:xfrm>
            <a:off x="457200" y="274701"/>
            <a:ext cx="8229219" cy="11426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4400">
                <a:solidFill>
                  <a:srgbClr val="000000"/>
                </a:solidFill>
                <a:latin typeface="Calibri"/>
              </a:rPr>
              <a:t>Before and after</a:t>
            </a:r>
          </a:p>
        </p:txBody>
      </p:sp>
      <p:sp>
        <p:nvSpPr>
          <p:cNvPr id="290" name="ox:194a2640-dc98-5c48-83a4-6e5a553640c9"/>
          <p:cNvSpPr txBox="1"/>
          <p:nvPr/>
        </p:nvSpPr>
        <p:spPr>
          <a:xfrm>
            <a:off x="457200" y="1535049"/>
            <a:ext cx="4039934" cy="63931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479"/>
              </a:spcBef>
              <a:buNone/>
            </a:pPr>
            <a:r>
              <a:rPr sz="2400" b="1">
                <a:solidFill>
                  <a:srgbClr val="000000"/>
                </a:solidFill>
                <a:latin typeface="Calibri"/>
              </a:rPr>
              <a:t>Before</a:t>
            </a:r>
          </a:p>
        </p:txBody>
      </p:sp>
      <p:sp>
        <p:nvSpPr>
          <p:cNvPr id="291" name="ox:9681ce91-66e6-5999-98a0-e1988d51754e"/>
          <p:cNvSpPr txBox="1"/>
          <p:nvPr/>
        </p:nvSpPr>
        <p:spPr>
          <a:xfrm>
            <a:off x="4645057" y="1535049"/>
            <a:ext cx="4041362" cy="63931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479"/>
              </a:spcBef>
              <a:buNone/>
            </a:pPr>
            <a:r>
              <a:rPr sz="2400" b="1">
                <a:solidFill>
                  <a:srgbClr val="000000"/>
                </a:solidFill>
                <a:latin typeface="Calibri"/>
              </a:rPr>
              <a:t>After</a:t>
            </a:r>
          </a:p>
        </p:txBody>
      </p:sp>
      <p:graphicFrame>
        <p:nvGraphicFramePr>
          <p:cNvPr id="292" name="ox:9a9d4429-ffc4-514f-bd70-68ca13e2bfb1"/>
          <p:cNvGraphicFramePr>
            <a:graphicFrameLocks noGrp="1"/>
          </p:cNvGraphicFramePr>
          <p:nvPr/>
        </p:nvGraphicFramePr>
        <p:xfrm>
          <a:off x="731520" y="2377440"/>
          <a:ext cx="10515219" cy="146265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FFFFFF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Losses went unnoticed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Every loss is listed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One app's view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800">
                          <a:solidFill>
                            <a:srgbClr val="000000"/>
                          </a:solidFill>
                          <a:latin typeface="Calibri"/>
                        </a:rPr>
                        <a:t>Any app's re-save</a:t>
                      </a:r>
                    </a:p>
                  </a:txBody>
                  <a:tcPr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x:85246511-9134-54ab-bf41-5aee5d04e0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ox:119b3989-72c9-50df-ae8e-4dbc13d49f4e"/>
          <p:cNvSpPr txBox="1"/>
          <p:nvPr/>
        </p:nvSpPr>
        <p:spPr>
          <a:xfrm>
            <a:off x="722185" y="4406741"/>
            <a:ext cx="7772019" cy="136188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4000" b="1">
                <a:solidFill>
                  <a:srgbClr val="000000"/>
                </a:solidFill>
                <a:latin typeface="Calibri"/>
              </a:rPr>
              <a:t>Talk to us</a:t>
            </a:r>
          </a:p>
        </p:txBody>
      </p:sp>
      <p:sp>
        <p:nvSpPr>
          <p:cNvPr id="295" name="ox:52cb8aaf-58b4-557a-bb3c-ec7236b79f07"/>
          <p:cNvSpPr txBox="1"/>
          <p:nvPr/>
        </p:nvSpPr>
        <p:spPr>
          <a:xfrm>
            <a:off x="722185" y="2906649"/>
            <a:ext cx="7772019" cy="149980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sz="2000" u="sng">
                <a:solidFill>
                  <a:srgbClr val="898989"/>
                </a:solidFill>
                <a:latin typeface="Calibri"/>
                <a:hlinkClick r:id="rId3"/>
              </a:rPr>
              <a:t>hello@milleleaf.com</a:t>
            </a:r>
            <a:endParaRPr sz="2000" u="sng">
              <a:solidFill>
                <a:srgbClr val="898989"/>
              </a:solidFill>
              <a:latin typeface="Calibri"/>
            </a:endParaRPr>
          </a:p>
          <a:p>
            <a:pPr marL="0" indent="0" algn="l">
              <a:lnSpc>
                <a:spcPct val="100000"/>
              </a:lnSpc>
              <a:spcBef>
                <a:spcPts val="400"/>
              </a:spcBef>
              <a:buNone/>
            </a:pPr>
            <a:r>
              <a:rPr sz="2000" u="sng">
                <a:solidFill>
                  <a:srgbClr val="898989"/>
                </a:solidFill>
                <a:latin typeface="Calibri"/>
              </a:rPr>
              <a:t>Back to the start</a:t>
            </a:r>
          </a:p>
        </p:txBody>
      </p:sp>
      <p:pic>
        <p:nvPicPr>
          <p:cNvPr id="296" name="ox:b7e5fa70-def2-5cf6-bac7-32a86718c29c" descr="mark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241280" y="365760"/>
            <a:ext cx="1676876" cy="14626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ckCraft">
  <a:themeElements>
    <a:clrScheme name="DeckCraft">
      <a:dk1>
        <a:srgbClr val="000000"/>
      </a:dk1>
      <a:lt1>
        <a:srgbClr val="FFFFFF"/>
      </a:lt1>
      <a:dk2>
        <a:srgbClr val="1E2B3C"/>
      </a:dk2>
      <a:lt2>
        <a:srgbClr val="EDEBE7"/>
      </a:lt2>
      <a:accent1>
        <a:srgbClr val="2E6FD8"/>
      </a:accent1>
      <a:accent2>
        <a:srgbClr val="F26B1D"/>
      </a:accent2>
      <a:accent3>
        <a:srgbClr val="2EA36F"/>
      </a:accent3>
      <a:accent4>
        <a:srgbClr val="8A5CD8"/>
      </a:accent4>
      <a:accent5>
        <a:srgbClr val="D83F6B"/>
      </a:accent5>
      <a:accent6>
        <a:srgbClr val="E3B21C"/>
      </a:accent6>
      <a:hlink>
        <a:srgbClr val="2E6FD8"/>
      </a:hlink>
      <a:folHlink>
        <a:srgbClr val="7A5BA6"/>
      </a:folHlink>
    </a:clrScheme>
    <a:fontScheme name="DeckCraf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Microsoft Macintosh PowerPoint</Application>
  <PresentationFormat>Widescreen</PresentationFormat>
  <Paragraphs>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Inter</vt:lpstr>
      <vt:lpstr>Arial</vt:lpstr>
      <vt:lpstr>Calibri</vt:lpstr>
      <vt:lpstr>DeckCraft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milleleaf-deck.impress</dc:title>
  <cp:keywords>oxdeck=1384e197-120e-59ea-b738-9941afeb276f oxrevision=477d97266814a05458b7bdc3</cp:keywords>
  <cp:lastModifiedBy>Milleleaf</cp:lastModifiedBy>
  <cp:revision>1</cp:revision>
  <dcterms:modified xsi:type="dcterms:W3CDTF">2026-10-22T02:53:15Z</dcterms:modified>
</cp:coreProperties>
</file>