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r>
              <a:rPr lang="en-US"/>
              <a:t>Revenue by region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6A8F"/>
            </a:solidFill>
          </c:spPr>
          <c:invertIfNegative val="0"/>
          <c:cat>
            <c:strRef>
              <c:f>Sheet1!$A$2:$A$4</c:f>
              <c:strCache>
                <c:ptCount val="3"/>
                <c:pt idx="0">
                  <c:v>Adelaide</c:v>
                </c:pt>
                <c:pt idx="1">
                  <c:v>Hong Kong</c:v>
                </c:pt>
                <c:pt idx="2">
                  <c:v>Singapore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412000</c:v>
                </c:pt>
                <c:pt idx="1">
                  <c:v>541500</c:v>
                </c:pt>
                <c:pt idx="2">
                  <c:v>297000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F0-DD4F-B094-EFA84DFFE4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0001"/>
        <c:axId val="50002"/>
      </c:barChart>
      <c:catAx>
        <c:axId val="500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crossAx val="50002"/>
        <c:crosses val="autoZero"/>
        <c:auto val="1"/>
        <c:lblAlgn val="ctr"/>
        <c:lblOffset val="100"/>
        <c:noMultiLvlLbl val="0"/>
      </c:catAx>
      <c:valAx>
        <c:axId val="50002"/>
        <c:scaling>
          <c:orientation val="minMax"/>
        </c:scaling>
        <c:delete val="0"/>
        <c:axPos val="l"/>
        <c:majorGridlines/>
        <c:numFmt formatCode="General" sourceLinked="1"/>
        <c:majorTickMark val="none"/>
        <c:minorTickMark val="none"/>
        <c:tickLblPos val="nextTo"/>
        <c:crossAx val="50001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11430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headline, then hand over to Finance.</a:t>
            </a: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endParaRPr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/>
          </a:p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endParaRPr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endParaRPr/>
          </a:p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endParaRPr/>
          </a:p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endParaRPr/>
          </a:p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</a:lstStyle>
          <a:p>
            <a:endParaRPr/>
          </a:p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endParaRPr/>
          </a:p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>
            <a:endParaRPr/>
          </a:p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/>
          </a:bodyPr>
          <a:lstStyle/>
          <a:p>
            <a:endParaRPr/>
          </a:p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/>
          </a:bodyPr>
          <a:lstStyle/>
          <a:p>
            <a:r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b9f29acd-4be0-5345-b388-cb314338fa55">
    <p:bg>
      <p:bgPr>
        <a:solidFill>
          <a:srgbClr val="0F3D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mleaf:79cf7543-79e8-551e-992b-1899612ea818"/>
          <p:cNvSpPr txBox="1"/>
          <p:nvPr/>
        </p:nvSpPr>
        <p:spPr>
          <a:xfrm>
            <a:off x="914400" y="2739600"/>
            <a:ext cx="9525000" cy="82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5400" b="1" dirty="0">
                <a:solidFill>
                  <a:srgbClr val="FFFFFF"/>
                </a:solidFill>
                <a:latin typeface="Inter"/>
              </a:rPr>
              <a:t>Q3 Board Pack</a:t>
            </a:r>
          </a:p>
        </p:txBody>
      </p:sp>
      <p:sp>
        <p:nvSpPr>
          <p:cNvPr id="260" name="mleaf:b73a0317-a900-5035-8af5-41d456a76424"/>
          <p:cNvSpPr txBox="1"/>
          <p:nvPr/>
        </p:nvSpPr>
        <p:spPr>
          <a:xfrm>
            <a:off x="914400" y="3429000"/>
            <a:ext cx="9525000" cy="3238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2100" dirty="0">
                <a:solidFill>
                  <a:srgbClr val="FFFFFF"/>
                </a:solidFill>
                <a:latin typeface="Inter"/>
              </a:rPr>
              <a:t>Finance &amp; operations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a108021-6b33-5ae3-a0db-12b17e9592c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mleaf:9b9cc37c-57d8-5294-896e-305ec1757883"/>
          <p:cNvSpPr txBox="1"/>
          <p:nvPr/>
        </p:nvSpPr>
        <p:spPr>
          <a:xfrm>
            <a:off x="762000" y="533400"/>
            <a:ext cx="37909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Revenue by region</a:t>
            </a:r>
          </a:p>
        </p:txBody>
      </p:sp>
      <p:graphicFrame>
        <p:nvGraphicFramePr>
          <p:cNvPr id="263" name="mleaf:987b7602-b694-53d2-b390-57f9d8ca387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4951268"/>
              </p:ext>
            </p:extLst>
          </p:nvPr>
        </p:nvGraphicFramePr>
        <p:xfrm>
          <a:off x="762000" y="1619250"/>
          <a:ext cx="49530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 b="1" dirty="0">
                          <a:latin typeface="Inter"/>
                        </a:rPr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b="1">
                          <a:latin typeface="Inter"/>
                        </a:rPr>
                        <a:t>Revenue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Adelaide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>
                          <a:latin typeface="Inter"/>
                        </a:rPr>
                        <a:t>$412,000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Hong Kong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dirty="0">
                          <a:latin typeface="Inter"/>
                        </a:rPr>
                        <a:t>$</a:t>
                      </a:r>
                      <a:r>
                        <a:rPr lang="en-AU" sz="1650" dirty="0">
                          <a:latin typeface="Inter"/>
                        </a:rPr>
                        <a:t>999</a:t>
                      </a:r>
                      <a:endParaRPr sz="1650" dirty="0">
                        <a:latin typeface="Inter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775">
                <a:tc>
                  <a:txBody>
                    <a:bodyPr/>
                    <a:lstStyle/>
                    <a:p>
                      <a:pPr algn="l"/>
                      <a:r>
                        <a:rPr sz="1650">
                          <a:latin typeface="Inter"/>
                        </a:rPr>
                        <a:t>Singapore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650" dirty="0">
                          <a:latin typeface="Inter"/>
                        </a:rPr>
                        <a:t>$297,000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264" name="mleaf:23ddaa1c-1c51-5324-8860-64ed833aa77f"/>
          <p:cNvGraphicFramePr>
            <a:graphicFrameLocks noGrp="1"/>
          </p:cNvGraphicFramePr>
          <p:nvPr/>
        </p:nvGraphicFramePr>
        <p:xfrm>
          <a:off x="6477000" y="1619250"/>
          <a:ext cx="4953000" cy="2857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65" name="mleaf:1f3d316c-9724-5069-b314-93f167a63dbb"/>
          <p:cNvSpPr txBox="1"/>
          <p:nvPr/>
        </p:nvSpPr>
        <p:spPr>
          <a:xfrm>
            <a:off x="762000" y="5143500"/>
            <a:ext cx="10668000" cy="2952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en-AU" sz="1950" dirty="0">
                <a:solidFill>
                  <a:srgbClr val="1D2433"/>
                </a:solidFill>
                <a:latin typeface="Inter"/>
              </a:rPr>
              <a:t>Group</a:t>
            </a:r>
            <a:r>
              <a:rPr sz="1950" dirty="0">
                <a:solidFill>
                  <a:srgbClr val="1D2433"/>
                </a:solidFill>
                <a:latin typeface="Inter"/>
              </a:rPr>
              <a:t> revenue: </a:t>
            </a:r>
            <a:r>
              <a:rPr sz="1950" b="1" dirty="0">
                <a:solidFill>
                  <a:srgbClr val="1D2433"/>
                </a:solidFill>
                <a:latin typeface="Inter"/>
              </a:rPr>
              <a:t>$1,250,500</a:t>
            </a:r>
            <a:r>
              <a:rPr sz="1950" dirty="0">
                <a:solidFill>
                  <a:srgbClr val="1D2433"/>
                </a:solidFill>
                <a:latin typeface="Inter"/>
              </a:rPr>
              <a:t> across 3 regions.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leaf:ad37e397-d236-5002-af7e-3682fbb922af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mleaf:5b80e2c4-11e9-59eb-ba28-26372e59d240"/>
          <p:cNvSpPr txBox="1"/>
          <p:nvPr/>
        </p:nvSpPr>
        <p:spPr>
          <a:xfrm>
            <a:off x="762000" y="533400"/>
            <a:ext cx="2195227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sz="3300" b="1">
                <a:solidFill>
                  <a:srgbClr val="1D2433"/>
                </a:solidFill>
                <a:latin typeface="Inter"/>
              </a:rPr>
              <a:t>Next steps</a:t>
            </a:r>
          </a:p>
        </p:txBody>
      </p:sp>
      <p:sp>
        <p:nvSpPr>
          <p:cNvPr id="268" name="mleaf:fe7234e8-6154-5a93-9672-691664c55a4c"/>
          <p:cNvSpPr txBox="1"/>
          <p:nvPr/>
        </p:nvSpPr>
        <p:spPr>
          <a:xfrm>
            <a:off x="762000" y="1619250"/>
            <a:ext cx="6415945" cy="17067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marL="228600" indent="-228600" algn="l">
              <a:buChar char="•"/>
            </a:pPr>
            <a:r>
              <a:rPr sz="2100" dirty="0">
                <a:solidFill>
                  <a:srgbClr val="1D2433"/>
                </a:solidFill>
                <a:latin typeface="Inter"/>
              </a:rPr>
              <a:t>Close Hong Kong FX restatement</a:t>
            </a:r>
          </a:p>
          <a:p>
            <a:pPr marL="228600" indent="-228600" algn="l">
              <a:buChar char="•"/>
            </a:pPr>
            <a:r>
              <a:rPr sz="2100" dirty="0">
                <a:solidFill>
                  <a:srgbClr val="1D2433"/>
                </a:solidFill>
                <a:latin typeface="Inter"/>
              </a:rPr>
              <a:t>Singapore pipeline review</a:t>
            </a:r>
            <a:r>
              <a:rPr lang="en-AU" sz="2100" dirty="0">
                <a:solidFill>
                  <a:srgbClr val="1D2433"/>
                </a:solidFill>
                <a:latin typeface="Inter"/>
              </a:rPr>
              <a:t> (two deals)</a:t>
            </a:r>
            <a:endParaRPr sz="2100" dirty="0">
              <a:solidFill>
                <a:srgbClr val="1D2433"/>
              </a:solidFill>
              <a:latin typeface="Inter"/>
            </a:endParaRPr>
          </a:p>
          <a:p>
            <a:pPr marL="457200" lvl="1" indent="-228600" algn="l">
              <a:buChar char="•"/>
            </a:pPr>
            <a:r>
              <a:rPr sz="2100" dirty="0">
                <a:solidFill>
                  <a:srgbClr val="1D2433"/>
                </a:solidFill>
                <a:latin typeface="Inter"/>
              </a:rPr>
              <a:t>Two enterprise renewals in November</a:t>
            </a:r>
          </a:p>
          <a:p>
            <a:pPr marL="228600" indent="-228600" algn="l">
              <a:buChar char="•"/>
            </a:pPr>
            <a:r>
              <a:rPr sz="2100" i="1" dirty="0">
                <a:solidFill>
                  <a:srgbClr val="1D2433"/>
                </a:solidFill>
                <a:latin typeface="Inter"/>
              </a:rPr>
              <a:t>Board decision:</a:t>
            </a:r>
            <a:r>
              <a:rPr sz="2100" dirty="0">
                <a:solidFill>
                  <a:srgbClr val="1D2433"/>
                </a:solidFill>
                <a:latin typeface="Inter"/>
              </a:rPr>
              <a:t> Adelaide expansion</a:t>
            </a:r>
          </a:p>
        </p:txBody>
      </p:sp>
      <p:pic>
        <p:nvPicPr>
          <p:cNvPr id="269" name="mleaf:3dd13f43-6346-534e-a04d-fb73fa6e896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0" y="1809750"/>
            <a:ext cx="3429000" cy="1524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2D1D47C-BF37-AE8D-5F61-FD9F9AE468EF}"/>
              </a:ext>
            </a:extLst>
          </p:cNvPr>
          <p:cNvSpPr txBox="1"/>
          <p:nvPr/>
        </p:nvSpPr>
        <p:spPr>
          <a:xfrm>
            <a:off x="762000" y="5955268"/>
            <a:ext cx="60980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Owner: Finance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74</Words>
  <Application>Microsoft Macintosh PowerPoint</Application>
  <PresentationFormat>Widescreen</PresentationFormat>
  <Paragraphs>20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DeckCraft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Board Pack</dc:title>
  <cp:keywords>mleafdeck=2af44a75-c514-5c87-b208-689fa8b15950 mleafrevision=65b7519003f8701bd2de27af</cp:keywords>
  <cp:lastModifiedBy>Milleleaf</cp:lastModifiedBy>
  <cp:revision>2</cp:revision>
  <dcterms:modified xsi:type="dcterms:W3CDTF">2026-10-23T01:52:25Z</dcterms:modified>
</cp:coreProperties>
</file>