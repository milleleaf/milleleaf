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r>
              <a:rPr lang="en-US"/>
              <a:t>Revenue by region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B6A8F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Adelaide</c:v>
                </c:pt>
                <c:pt idx="1">
                  <c:v>Hong Kong</c:v>
                </c:pt>
                <c:pt idx="2">
                  <c:v>Singapore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412000</c:v>
                </c:pt>
                <c:pt idx="1">
                  <c:v>541500</c:v>
                </c:pt>
                <c:pt idx="2">
                  <c:v>297000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C5-AD4B-9867-77050676AF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0001"/>
        <c:axId val="50002"/>
      </c:barChart>
      <c:catAx>
        <c:axId val="50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02"/>
        <c:crosses val="autoZero"/>
        <c:auto val="1"/>
        <c:lblAlgn val="ctr"/>
        <c:lblOffset val="100"/>
        <c:noMultiLvlLbl val="0"/>
      </c:catAx>
      <c:valAx>
        <c:axId val="50002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50001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8940" cy="457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09060" y="0"/>
            <a:ext cx="2948940" cy="457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1143000"/>
            <a:ext cx="5143500" cy="3429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846320"/>
            <a:ext cx="5486400" cy="3291840"/>
          </a:xfrm>
          <a:prstGeom prst="rect">
            <a:avLst/>
          </a:prstGeom>
        </p:spPr>
        <p:txBody>
          <a:bodyPr/>
          <a:lstStyle/>
          <a:p>
            <a:r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48940" cy="457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9060" y="8686800"/>
            <a:ext cx="2948940" cy="457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</a:defRPr>
    </a:lvl1pPr>
    <a:lvl2pPr marL="457200" algn="l">
      <a:defRPr sz="1200">
        <a:solidFill>
          <a:schemeClr val="tx1"/>
        </a:solidFill>
        <a:latin typeface="+mn-lt"/>
      </a:defRPr>
    </a:lvl2pPr>
    <a:lvl3pPr marL="914400" algn="l">
      <a:defRPr sz="1200">
        <a:solidFill>
          <a:schemeClr val="tx1"/>
        </a:solidFill>
        <a:latin typeface="+mn-lt"/>
      </a:defRPr>
    </a:lvl3pPr>
    <a:lvl4pPr marL="1371600" algn="l">
      <a:defRPr sz="1200">
        <a:solidFill>
          <a:schemeClr val="tx1"/>
        </a:solidFill>
        <a:latin typeface="+mn-lt"/>
      </a:defRPr>
    </a:lvl4pPr>
    <a:lvl5pPr marL="1828800" algn="l">
      <a:defRPr sz="1200">
        <a:solidFill>
          <a:schemeClr val="tx1"/>
        </a:solidFill>
        <a:latin typeface="+mn-lt"/>
      </a:defRPr>
    </a:lvl5pPr>
    <a:lvl6pPr marL="2286000" algn="l">
      <a:defRPr sz="1200">
        <a:solidFill>
          <a:schemeClr val="tx1"/>
        </a:solidFill>
        <a:latin typeface="+mn-lt"/>
      </a:defRPr>
    </a:lvl6pPr>
    <a:lvl7pPr marL="2743200" algn="l">
      <a:defRPr sz="1200">
        <a:solidFill>
          <a:schemeClr val="tx1"/>
        </a:solidFill>
        <a:latin typeface="+mn-lt"/>
      </a:defRPr>
    </a:lvl7pPr>
    <a:lvl8pPr marL="3200400" algn="l">
      <a:defRPr sz="1200">
        <a:solidFill>
          <a:schemeClr val="tx1"/>
        </a:solidFill>
        <a:latin typeface="+mn-lt"/>
      </a:defRPr>
    </a:lvl8pPr>
    <a:lvl9pPr marL="3657600" algn="l">
      <a:defRPr sz="1200">
        <a:solidFill>
          <a:schemeClr val="tx1"/>
        </a:solidFill>
        <a:latin typeface="+mn-lt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11430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Open with the headline, then hand over to Finance.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endParaRPr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</a:lstStyle>
          <a:p>
            <a:endParaRPr/>
          </a:p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endParaRPr/>
          </a:p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endParaRPr/>
          </a:p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endParaRPr/>
          </a:p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endParaRPr/>
          </a:p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</a:lstStyle>
          <a:p>
            <a:endParaRPr/>
          </a:p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endParaRPr/>
          </a:p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</a:lstStyle>
          <a:p>
            <a:endParaRPr/>
          </a:p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/>
          </a:bodyPr>
          <a:lstStyle/>
          <a:p>
            <a:endParaRPr/>
          </a:p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>
            <a:endParaRPr/>
          </a:p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/>
          </a:bodyPr>
          <a:lstStyle/>
          <a:p>
            <a:endParaRPr/>
          </a:p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DeckCra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r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leaf:b9f29acd-4be0-5345-b388-cb314338fa55">
    <p:bg>
      <p:bgPr>
        <a:solidFill>
          <a:srgbClr val="0F3D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mleaf:79cf7543-79e8-551e-992b-1899612ea818"/>
          <p:cNvSpPr txBox="1"/>
          <p:nvPr/>
        </p:nvSpPr>
        <p:spPr>
          <a:xfrm>
            <a:off x="914400" y="2741295"/>
            <a:ext cx="9525000" cy="8286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5400" b="1">
                <a:solidFill>
                  <a:srgbClr val="FFFFFF"/>
                </a:solidFill>
                <a:latin typeface="Inter"/>
              </a:rPr>
              <a:t>Q3 Board Pack</a:t>
            </a:r>
          </a:p>
        </p:txBody>
      </p:sp>
      <p:sp>
        <p:nvSpPr>
          <p:cNvPr id="260" name="mleaf:b73a0317-a900-5035-8af5-41d456a76424"/>
          <p:cNvSpPr txBox="1"/>
          <p:nvPr/>
        </p:nvSpPr>
        <p:spPr>
          <a:xfrm>
            <a:off x="914400" y="3429000"/>
            <a:ext cx="9525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2100">
                <a:solidFill>
                  <a:srgbClr val="FFFFFF"/>
                </a:solidFill>
                <a:latin typeface="Inter"/>
              </a:rPr>
              <a:t>Finance &amp; operations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leaf:aa108021-6b33-5ae3-a0db-12b17e9592c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mleaf:9b9cc37c-57d8-5294-896e-305ec1757883"/>
          <p:cNvSpPr txBox="1"/>
          <p:nvPr/>
        </p:nvSpPr>
        <p:spPr>
          <a:xfrm>
            <a:off x="762000" y="533400"/>
            <a:ext cx="37909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3300" b="1">
                <a:solidFill>
                  <a:srgbClr val="1D2433"/>
                </a:solidFill>
                <a:latin typeface="Inter"/>
              </a:rPr>
              <a:t>Revenue by region</a:t>
            </a:r>
          </a:p>
        </p:txBody>
      </p:sp>
      <p:graphicFrame>
        <p:nvGraphicFramePr>
          <p:cNvPr id="263" name="mleaf:987b7602-b694-53d2-b390-57f9d8ca38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655949"/>
              </p:ext>
            </p:extLst>
          </p:nvPr>
        </p:nvGraphicFramePr>
        <p:xfrm>
          <a:off x="762000" y="1619250"/>
          <a:ext cx="4953000" cy="194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650" b="1" dirty="0">
                          <a:latin typeface="Inter"/>
                        </a:rP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 dirty="0">
                          <a:latin typeface="Inter"/>
                        </a:rPr>
                        <a:t>Revenue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650" dirty="0">
                          <a:latin typeface="Inter"/>
                        </a:rPr>
                        <a:t>Adelaide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650" dirty="0">
                          <a:latin typeface="Inter"/>
                        </a:rPr>
                        <a:t>$412,000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650" dirty="0">
                          <a:latin typeface="Inter"/>
                        </a:rPr>
                        <a:t>Hong Kong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650" dirty="0">
                          <a:latin typeface="Inter"/>
                        </a:rPr>
                        <a:t>$999</a:t>
                      </a:r>
                      <a:endParaRPr sz="1650" dirty="0">
                        <a:latin typeface="Int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latin typeface="Inter"/>
                        </a:rPr>
                        <a:t>Singapore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650" dirty="0">
                          <a:latin typeface="Inter"/>
                        </a:rPr>
                        <a:t>$297,000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64" name="mleaf:23ddaa1c-1c51-5324-8860-64ed833aa77f"/>
          <p:cNvGraphicFramePr>
            <a:graphicFrameLocks noGrp="1"/>
          </p:cNvGraphicFramePr>
          <p:nvPr/>
        </p:nvGraphicFramePr>
        <p:xfrm>
          <a:off x="6477000" y="1619250"/>
          <a:ext cx="49530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65" name="mleaf:1f3d316c-9724-5069-b314-93f167a63dbb"/>
          <p:cNvSpPr txBox="1"/>
          <p:nvPr/>
        </p:nvSpPr>
        <p:spPr>
          <a:xfrm>
            <a:off x="762000" y="5143500"/>
            <a:ext cx="10668000" cy="295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950">
                <a:solidFill>
                  <a:srgbClr val="1D2433"/>
                </a:solidFill>
                <a:latin typeface="Inter"/>
              </a:rPr>
              <a:t>Group </a:t>
            </a:r>
            <a:r>
              <a:rPr sz="1950">
                <a:solidFill>
                  <a:srgbClr val="1D2433"/>
                </a:solidFill>
                <a:latin typeface="Inter"/>
              </a:rPr>
              <a:t>revenue: </a:t>
            </a:r>
            <a:r>
              <a:rPr sz="1950" b="1">
                <a:solidFill>
                  <a:srgbClr val="1D2433"/>
                </a:solidFill>
                <a:latin typeface="Inter"/>
              </a:rPr>
              <a:t>$1,250,500</a:t>
            </a:r>
            <a:r>
              <a:rPr sz="1950">
                <a:solidFill>
                  <a:srgbClr val="1D2433"/>
                </a:solidFill>
                <a:latin typeface="Inter"/>
              </a:rPr>
              <a:t> across 3 regions.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leaf:ad37e397-d236-5002-af7e-3682fbb922af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mleaf:5b80e2c4-11e9-59eb-ba28-26372e59d240"/>
          <p:cNvSpPr txBox="1"/>
          <p:nvPr/>
        </p:nvSpPr>
        <p:spPr>
          <a:xfrm>
            <a:off x="762000" y="533400"/>
            <a:ext cx="2195227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3300" b="1">
                <a:solidFill>
                  <a:srgbClr val="1D2433"/>
                </a:solidFill>
                <a:latin typeface="Inter"/>
              </a:rPr>
              <a:t>Next steps</a:t>
            </a:r>
          </a:p>
        </p:txBody>
      </p:sp>
      <p:sp>
        <p:nvSpPr>
          <p:cNvPr id="268" name="mleaf:fe7234e8-6154-5a93-9672-691664c55a4c"/>
          <p:cNvSpPr txBox="1"/>
          <p:nvPr/>
        </p:nvSpPr>
        <p:spPr>
          <a:xfrm>
            <a:off x="762000" y="1619250"/>
            <a:ext cx="6415945" cy="17067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buChar char="•"/>
            </a:pPr>
            <a:r>
              <a:rPr sz="2100">
                <a:solidFill>
                  <a:srgbClr val="1D2433"/>
                </a:solidFill>
                <a:latin typeface="Inter"/>
              </a:rPr>
              <a:t>Close Hong Kong FX restatement</a:t>
            </a:r>
          </a:p>
          <a:p>
            <a:pPr marL="228600" indent="-228600" algn="l">
              <a:buChar char="•"/>
            </a:pPr>
            <a:r>
              <a:rPr sz="2100">
                <a:solidFill>
                  <a:srgbClr val="1D2433"/>
                </a:solidFill>
                <a:latin typeface="Inter"/>
              </a:rPr>
              <a:t>Singapore pipeline </a:t>
            </a:r>
            <a:r>
              <a:rPr lang="en-US" sz="2100">
                <a:solidFill>
                  <a:srgbClr val="1D2433"/>
                </a:solidFill>
                <a:latin typeface="Inter"/>
              </a:rPr>
              <a:t>review (two deals)</a:t>
            </a:r>
            <a:endParaRPr sz="2100">
              <a:solidFill>
                <a:srgbClr val="1D2433"/>
              </a:solidFill>
              <a:latin typeface="Inter"/>
            </a:endParaRPr>
          </a:p>
          <a:p>
            <a:pPr marL="457200" lvl="1" indent="-228600" algn="l">
              <a:buChar char="•"/>
            </a:pPr>
            <a:r>
              <a:rPr sz="2100">
                <a:solidFill>
                  <a:srgbClr val="1D2433"/>
                </a:solidFill>
                <a:latin typeface="Inter"/>
              </a:rPr>
              <a:t>Two enterprise renewals in November</a:t>
            </a:r>
          </a:p>
          <a:p>
            <a:pPr marL="228600" indent="-228600" algn="l">
              <a:buChar char="•"/>
            </a:pPr>
            <a:r>
              <a:rPr sz="2100" i="1">
                <a:solidFill>
                  <a:srgbClr val="1D2433"/>
                </a:solidFill>
                <a:latin typeface="Inter"/>
              </a:rPr>
              <a:t>Board decision:</a:t>
            </a:r>
            <a:r>
              <a:rPr sz="2100">
                <a:solidFill>
                  <a:srgbClr val="1D2433"/>
                </a:solidFill>
                <a:latin typeface="Inter"/>
              </a:rPr>
              <a:t> Adelaide expansion</a:t>
            </a:r>
          </a:p>
        </p:txBody>
      </p:sp>
      <p:pic>
        <p:nvPicPr>
          <p:cNvPr id="269" name="mleaf:3dd13f43-6346-534e-a04d-fb73fa6e896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620000" y="1809750"/>
            <a:ext cx="3429000" cy="1524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5DA9A06-4064-C9D7-765E-81F387301CC3}"/>
              </a:ext>
            </a:extLst>
          </p:cNvPr>
          <p:cNvSpPr txBox="1"/>
          <p:nvPr/>
        </p:nvSpPr>
        <p:spPr>
          <a:xfrm>
            <a:off x="914400" y="5461000"/>
            <a:ext cx="3810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Owner: Finance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</Words>
  <Application>Microsoft Macintosh PowerPoint</Application>
  <PresentationFormat>Widescreen</PresentationFormat>
  <Paragraphs>20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Inter</vt:lpstr>
      <vt:lpstr>Arial</vt:lpstr>
      <vt:lpstr>DeckCraft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Board Pack</dc:title>
  <cp:keywords>mleafdeck=2af44a75-c514-5c87-b208-689fa8b15950 mleafrevision=4eba5f41451b5c891f7ad2ee</cp:keywords>
  <cp:lastModifiedBy>Milleleaf</cp:lastModifiedBy>
  <cp:revision>1</cp:revision>
  <dcterms:modified xsi:type="dcterms:W3CDTF">2026-10-15T22:25:27Z</dcterms:modified>
</cp:coreProperties>
</file>