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9144000"/>
  <p:defaultTextStyle>
    <a:lvl1pPr marL="0" algn="l">
      <a:defRPr sz="1800" kern="1200">
        <a:solidFill>
          <a:schemeClr val="tx1"/>
        </a:solidFill>
        <a:latin typeface="+mn-lt"/>
      </a:defRPr>
    </a:lvl1pPr>
    <a:lvl2pPr marL="457200" algn="l">
      <a:defRPr sz="1800" kern="1200">
        <a:solidFill>
          <a:schemeClr val="tx1"/>
        </a:solidFill>
        <a:latin typeface="+mn-lt"/>
      </a:defRPr>
    </a:lvl2pPr>
    <a:lvl3pPr marL="914400" algn="l">
      <a:defRPr sz="1800" kern="1200">
        <a:solidFill>
          <a:schemeClr val="tx1"/>
        </a:solidFill>
        <a:latin typeface="+mn-lt"/>
      </a:defRPr>
    </a:lvl3pPr>
    <a:lvl4pPr marL="1371600" algn="l">
      <a:defRPr sz="1800" kern="1200">
        <a:solidFill>
          <a:schemeClr val="tx1"/>
        </a:solidFill>
        <a:latin typeface="+mn-lt"/>
      </a:defRPr>
    </a:lvl4pPr>
    <a:lvl5pPr marL="1828800" algn="l">
      <a:defRPr sz="1800" kern="1200">
        <a:solidFill>
          <a:schemeClr val="tx1"/>
        </a:solidFill>
        <a:latin typeface="+mn-lt"/>
      </a:defRPr>
    </a:lvl5pPr>
    <a:lvl6pPr marL="2286000" algn="l">
      <a:defRPr sz="1800" kern="1200">
        <a:solidFill>
          <a:schemeClr val="tx1"/>
        </a:solidFill>
        <a:latin typeface="+mn-lt"/>
      </a:defRPr>
    </a:lvl6pPr>
    <a:lvl7pPr marL="2743200" algn="l">
      <a:defRPr sz="1800" kern="1200">
        <a:solidFill>
          <a:schemeClr val="tx1"/>
        </a:solidFill>
        <a:latin typeface="+mn-lt"/>
      </a:defRPr>
    </a:lvl7pPr>
    <a:lvl8pPr marL="3200400" algn="l">
      <a:defRPr sz="1800" kern="1200">
        <a:solidFill>
          <a:schemeClr val="tx1"/>
        </a:solidFill>
        <a:latin typeface="+mn-lt"/>
      </a:defRPr>
    </a:lvl8pPr>
    <a:lvl9pPr marL="3657600" algn="l">
      <a:defRPr sz="1800" kern="1200">
        <a:solidFill>
          <a:schemeClr val="tx1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title>
      <c:tx>
        <c:rich>
          <a:bodyPr/>
          <a:lstStyle/>
          <a:p>
            <a:r>
              <a:t>Revenue by region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B6A8F"/>
            </a:solidFill>
          </c:spPr>
          <c:invertIfNegative val="0"/>
          <c:cat>
            <c:strRef>
              <c:f>Sheet1!$A$2:$A$4</c:f>
              <c:strCache>
                <c:ptCount val="3"/>
                <c:pt idx="0">
                  <c:v>Adelaide</c:v>
                </c:pt>
                <c:pt idx="1">
                  <c:v>Hong Kong</c:v>
                </c:pt>
                <c:pt idx="2">
                  <c:v>Singapore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412000</c:v>
                </c:pt>
                <c:pt idx="1">
                  <c:v>541500</c:v>
                </c:pt>
                <c:pt idx="2">
                  <c:v>297000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E35-2B43-9F52-5881FF286F2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50001"/>
        <c:axId val="50002"/>
      </c:barChart>
      <c:catAx>
        <c:axId val="5000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crossAx val="50002"/>
        <c:crosses val="autoZero"/>
        <c:auto val="1"/>
        <c:lblAlgn val="ctr"/>
        <c:lblOffset val="100"/>
        <c:noMultiLvlLbl val="0"/>
      </c:catAx>
      <c:valAx>
        <c:axId val="50002"/>
        <c:scaling>
          <c:orientation val="minMax"/>
        </c:scaling>
        <c:delete val="0"/>
        <c:axPos val="l"/>
        <c:majorGridlines/>
        <c:numFmt formatCode="General" sourceLinked="1"/>
        <c:majorTickMark val="none"/>
        <c:minorTickMark val="none"/>
        <c:tickLblPos val="nextTo"/>
        <c:crossAx val="50001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8940" cy="4572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09060" y="0"/>
            <a:ext cx="2948940" cy="4572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857250" y="1143000"/>
            <a:ext cx="5143500" cy="3429000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846320"/>
            <a:ext cx="5486400" cy="3291840"/>
          </a:xfrm>
          <a:prstGeom prst="rect">
            <a:avLst/>
          </a:prstGeom>
        </p:spPr>
        <p:txBody>
          <a:bodyPr/>
          <a:lstStyle/>
          <a:p>
            <a:r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6800"/>
            <a:ext cx="2948940" cy="4572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09060" y="8686800"/>
            <a:ext cx="2948940" cy="4572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>
      <a:defRPr sz="1200">
        <a:solidFill>
          <a:schemeClr val="tx1"/>
        </a:solidFill>
        <a:latin typeface="+mn-lt"/>
      </a:defRPr>
    </a:lvl1pPr>
    <a:lvl2pPr marL="457200" algn="l">
      <a:defRPr sz="1200">
        <a:solidFill>
          <a:schemeClr val="tx1"/>
        </a:solidFill>
        <a:latin typeface="+mn-lt"/>
      </a:defRPr>
    </a:lvl2pPr>
    <a:lvl3pPr marL="914400" algn="l">
      <a:defRPr sz="1200">
        <a:solidFill>
          <a:schemeClr val="tx1"/>
        </a:solidFill>
        <a:latin typeface="+mn-lt"/>
      </a:defRPr>
    </a:lvl3pPr>
    <a:lvl4pPr marL="1371600" algn="l">
      <a:defRPr sz="1200">
        <a:solidFill>
          <a:schemeClr val="tx1"/>
        </a:solidFill>
        <a:latin typeface="+mn-lt"/>
      </a:defRPr>
    </a:lvl4pPr>
    <a:lvl5pPr marL="1828800" algn="l">
      <a:defRPr sz="1200">
        <a:solidFill>
          <a:schemeClr val="tx1"/>
        </a:solidFill>
        <a:latin typeface="+mn-lt"/>
      </a:defRPr>
    </a:lvl5pPr>
    <a:lvl6pPr marL="2286000" algn="l">
      <a:defRPr sz="1200">
        <a:solidFill>
          <a:schemeClr val="tx1"/>
        </a:solidFill>
        <a:latin typeface="+mn-lt"/>
      </a:defRPr>
    </a:lvl6pPr>
    <a:lvl7pPr marL="2743200" algn="l">
      <a:defRPr sz="1200">
        <a:solidFill>
          <a:schemeClr val="tx1"/>
        </a:solidFill>
        <a:latin typeface="+mn-lt"/>
      </a:defRPr>
    </a:lvl7pPr>
    <a:lvl8pPr marL="3200400" algn="l">
      <a:defRPr sz="1200">
        <a:solidFill>
          <a:schemeClr val="tx1"/>
        </a:solidFill>
        <a:latin typeface="+mn-lt"/>
      </a:defRPr>
    </a:lvl8pPr>
    <a:lvl9pPr marL="3657600" algn="l">
      <a:defRPr sz="1200">
        <a:solidFill>
          <a:schemeClr val="tx1"/>
        </a:solidFill>
        <a:latin typeface="+mn-lt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Open with the headline: revenue up across all three regions.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ctrTitle"/>
          </p:nvPr>
        </p:nvSpPr>
        <p:spPr>
          <a:xfrm>
            <a:off x="1524000" y="1117600"/>
            <a:ext cx="9144000" cy="2387600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6000"/>
            </a:lvl1pPr>
          </a:lstStyle>
          <a:p>
            <a:endParaRPr/>
          </a:p>
        </p:txBody>
      </p:sp>
      <p:sp>
        <p:nvSpPr>
          <p:cNvPr id="8" name="Subtitle 2"/>
          <p:cNvSpPr>
            <a:spLocks noGrp="1"/>
          </p:cNvSpPr>
          <p:nvPr>
            <p:ph type="subTitle" idx="1"/>
          </p:nvPr>
        </p:nvSpPr>
        <p:spPr>
          <a:xfrm>
            <a:off x="1524000" y="3606800"/>
            <a:ext cx="9144000" cy="1651000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ctr">
              <a:buNone/>
              <a:defRPr sz="2400"/>
            </a:lvl1pPr>
          </a:lstStyle>
          <a:p>
            <a:endParaRPr/>
          </a:p>
        </p:txBody>
      </p:sp>
      <p:sp>
        <p:nvSpPr>
          <p:cNvPr id="9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10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11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DC6D5D-A00E-4AA9-84F2-364CBECE0EEA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endParaRPr/>
          </a:p>
        </p:txBody>
      </p: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762000" y="1828800"/>
            <a:ext cx="10668000" cy="43561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endParaRPr/>
          </a:p>
        </p:txBody>
      </p:sp>
      <p:sp>
        <p:nvSpPr>
          <p:cNvPr id="15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16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17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CD0F9E-EF7E-4C26-8662-25A73F2263DD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title"/>
          </p:nvPr>
        </p:nvSpPr>
        <p:spPr>
          <a:xfrm>
            <a:off x="825500" y="1714500"/>
            <a:ext cx="10541000" cy="2857500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endParaRPr/>
          </a:p>
        </p:txBody>
      </p:sp>
      <p:sp>
        <p:nvSpPr>
          <p:cNvPr id="20" name="Text Placeholder 2"/>
          <p:cNvSpPr>
            <a:spLocks noGrp="1"/>
          </p:cNvSpPr>
          <p:nvPr>
            <p:ph type="body" idx="1"/>
          </p:nvPr>
        </p:nvSpPr>
        <p:spPr>
          <a:xfrm>
            <a:off x="825500" y="4597400"/>
            <a:ext cx="10541000" cy="1498600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21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22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23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C18080-B33E-4073-8615-72D8F5AE8F78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endParaRPr/>
          </a:p>
        </p:txBody>
      </p:sp>
      <p:sp>
        <p:nvSpPr>
          <p:cNvPr id="26" name="Content Placeholder 2"/>
          <p:cNvSpPr>
            <a:spLocks noGrp="1"/>
          </p:cNvSpPr>
          <p:nvPr>
            <p:ph idx="1"/>
          </p:nvPr>
        </p:nvSpPr>
        <p:spPr>
          <a:xfrm>
            <a:off x="762000" y="1828800"/>
            <a:ext cx="5232400" cy="43561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endParaRPr/>
          </a:p>
        </p:txBody>
      </p:sp>
      <p:sp>
        <p:nvSpPr>
          <p:cNvPr id="27" name="Content Placeholder 3"/>
          <p:cNvSpPr>
            <a:spLocks noGrp="1"/>
          </p:cNvSpPr>
          <p:nvPr>
            <p:ph idx="2"/>
          </p:nvPr>
        </p:nvSpPr>
        <p:spPr>
          <a:xfrm>
            <a:off x="6197600" y="1828800"/>
            <a:ext cx="5232400" cy="43561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endParaRPr/>
          </a:p>
        </p:txBody>
      </p:sp>
      <p:sp>
        <p:nvSpPr>
          <p:cNvPr id="28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29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0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CB9569-04AF-4288-8880-64CE52ABE7A3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endParaRPr/>
          </a:p>
        </p:txBody>
      </p:sp>
      <p:sp>
        <p:nvSpPr>
          <p:cNvPr id="33" name="Text Placeholder 2"/>
          <p:cNvSpPr>
            <a:spLocks noGrp="1"/>
          </p:cNvSpPr>
          <p:nvPr>
            <p:ph type="body" idx="1"/>
          </p:nvPr>
        </p:nvSpPr>
        <p:spPr>
          <a:xfrm>
            <a:off x="762000" y="1689100"/>
            <a:ext cx="5232400" cy="78740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endParaRPr/>
          </a:p>
        </p:txBody>
      </p:sp>
      <p:sp>
        <p:nvSpPr>
          <p:cNvPr id="34" name="Content Placeholder 3"/>
          <p:cNvSpPr>
            <a:spLocks noGrp="1"/>
          </p:cNvSpPr>
          <p:nvPr>
            <p:ph idx="2"/>
          </p:nvPr>
        </p:nvSpPr>
        <p:spPr>
          <a:xfrm>
            <a:off x="762000" y="2514600"/>
            <a:ext cx="5232400" cy="36703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endParaRPr/>
          </a:p>
        </p:txBody>
      </p:sp>
      <p:sp>
        <p:nvSpPr>
          <p:cNvPr id="35" name="Text Placeholder 4"/>
          <p:cNvSpPr>
            <a:spLocks noGrp="1"/>
          </p:cNvSpPr>
          <p:nvPr>
            <p:ph type="body" idx="3"/>
          </p:nvPr>
        </p:nvSpPr>
        <p:spPr>
          <a:xfrm>
            <a:off x="6197600" y="1689100"/>
            <a:ext cx="5232400" cy="78740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endParaRPr/>
          </a:p>
        </p:txBody>
      </p:sp>
      <p:sp>
        <p:nvSpPr>
          <p:cNvPr id="36" name="Content Placeholder 5"/>
          <p:cNvSpPr>
            <a:spLocks noGrp="1"/>
          </p:cNvSpPr>
          <p:nvPr>
            <p:ph idx="4"/>
          </p:nvPr>
        </p:nvSpPr>
        <p:spPr>
          <a:xfrm>
            <a:off x="6197600" y="2514600"/>
            <a:ext cx="5232400" cy="36703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endParaRPr/>
          </a:p>
        </p:txBody>
      </p:sp>
      <p:sp>
        <p:nvSpPr>
          <p:cNvPr id="37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8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9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533E07-937E-4FED-8300-89129584345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endParaRPr/>
          </a:p>
        </p:txBody>
      </p:sp>
      <p:sp>
        <p:nvSpPr>
          <p:cNvPr id="42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3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4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28B55B-FA15-48BA-860D-0231187503D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7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8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E0EBC0-ADA9-4FA7-889C-9287646BC794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itle 1"/>
          <p:cNvSpPr>
            <a:spLocks noGrp="1"/>
          </p:cNvSpPr>
          <p:nvPr>
            <p:ph type="title"/>
          </p:nvPr>
        </p:nvSpPr>
        <p:spPr>
          <a:xfrm>
            <a:off x="762000" y="457200"/>
            <a:ext cx="4089400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endParaRPr/>
          </a:p>
        </p:txBody>
      </p:sp>
      <p:sp>
        <p:nvSpPr>
          <p:cNvPr id="51" name="Content Placeholder 2"/>
          <p:cNvSpPr>
            <a:spLocks noGrp="1"/>
          </p:cNvSpPr>
          <p:nvPr>
            <p:ph idx="1"/>
          </p:nvPr>
        </p:nvSpPr>
        <p:spPr>
          <a:xfrm>
            <a:off x="5232400" y="990600"/>
            <a:ext cx="6197600" cy="48768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endParaRPr/>
          </a:p>
        </p:txBody>
      </p:sp>
      <p:sp>
        <p:nvSpPr>
          <p:cNvPr id="52" name="Text Placeholder 3"/>
          <p:cNvSpPr>
            <a:spLocks noGrp="1"/>
          </p:cNvSpPr>
          <p:nvPr>
            <p:ph type="body" idx="2"/>
          </p:nvPr>
        </p:nvSpPr>
        <p:spPr>
          <a:xfrm>
            <a:off x="762000" y="2057400"/>
            <a:ext cx="4089400" cy="3810000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</a:lstStyle>
          <a:p>
            <a:endParaRPr/>
          </a:p>
        </p:txBody>
      </p:sp>
      <p:sp>
        <p:nvSpPr>
          <p:cNvPr id="53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4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5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A25AB8-FB3A-479C-8780-0B7E5F586C0F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1"/>
          <p:cNvSpPr>
            <a:spLocks noGrp="1"/>
          </p:cNvSpPr>
          <p:nvPr>
            <p:ph type="title"/>
          </p:nvPr>
        </p:nvSpPr>
        <p:spPr>
          <a:xfrm>
            <a:off x="762000" y="457200"/>
            <a:ext cx="4089400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endParaRPr/>
          </a:p>
        </p:txBody>
      </p:sp>
      <p:sp>
        <p:nvSpPr>
          <p:cNvPr id="58" name="Picture Placeholder 2"/>
          <p:cNvSpPr>
            <a:spLocks noGrp="1"/>
          </p:cNvSpPr>
          <p:nvPr>
            <p:ph type="pic" idx="1"/>
          </p:nvPr>
        </p:nvSpPr>
        <p:spPr>
          <a:xfrm>
            <a:off x="5232400" y="990600"/>
            <a:ext cx="6197600" cy="4876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9" name="Text Placeholder 3"/>
          <p:cNvSpPr>
            <a:spLocks noGrp="1"/>
          </p:cNvSpPr>
          <p:nvPr>
            <p:ph type="body" idx="2"/>
          </p:nvPr>
        </p:nvSpPr>
        <p:spPr>
          <a:xfrm>
            <a:off x="762000" y="2057400"/>
            <a:ext cx="4089400" cy="3810000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</a:lstStyle>
          <a:p>
            <a:endParaRPr/>
          </a:p>
        </p:txBody>
      </p:sp>
      <p:sp>
        <p:nvSpPr>
          <p:cNvPr id="60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1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2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EFC29A-6C4F-4141-86E3-1A3E2D58E3A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endParaRPr/>
          </a:p>
        </p:txBody>
      </p:sp>
      <p:sp>
        <p:nvSpPr>
          <p:cNvPr id="65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1828800"/>
            <a:ext cx="10668000" cy="4356100"/>
          </a:xfrm>
          <a:prstGeom prst="rect">
            <a:avLst/>
          </a:prstGeom>
        </p:spPr>
        <p:txBody>
          <a:bodyPr vert="eaVert" anchor="t">
            <a:normAutofit/>
          </a:bodyPr>
          <a:lstStyle/>
          <a:p>
            <a:endParaRPr/>
          </a:p>
        </p:txBody>
      </p:sp>
      <p:sp>
        <p:nvSpPr>
          <p:cNvPr id="66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7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8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19C649-D3E0-46CB-87C1-67136E4226A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8300"/>
            <a:ext cx="2705100" cy="5816600"/>
          </a:xfrm>
          <a:prstGeom prst="rect">
            <a:avLst/>
          </a:prstGeom>
        </p:spPr>
        <p:txBody>
          <a:bodyPr vert="eaVert"/>
          <a:lstStyle/>
          <a:p>
            <a:endParaRPr/>
          </a:p>
        </p:txBody>
      </p:sp>
      <p:sp>
        <p:nvSpPr>
          <p:cNvPr id="71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68300"/>
            <a:ext cx="7772400" cy="5816600"/>
          </a:xfrm>
          <a:prstGeom prst="rect">
            <a:avLst/>
          </a:prstGeom>
        </p:spPr>
        <p:txBody>
          <a:bodyPr vert="eaVert" anchor="t">
            <a:normAutofit/>
          </a:bodyPr>
          <a:lstStyle/>
          <a:p>
            <a:endParaRPr/>
          </a:p>
        </p:txBody>
      </p:sp>
      <p:sp>
        <p:nvSpPr>
          <p:cNvPr id="72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73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74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EBE78A-EB3E-401E-81B5-D7F53201DAF3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DeckCraf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2000" y="1828800"/>
            <a:ext cx="10668000" cy="43561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r>
              <a:t>Click to edit Master text styles</a:t>
            </a:r>
          </a:p>
        </p:txBody>
      </p:sp>
      <p:sp>
        <p:nvSpPr>
          <p:cNvPr id="4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3D6AB1-0FDA-49F1-8390-8828CE9E6676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>
        <a:lnSpc>
          <a:spcPct val="90000"/>
        </a:lnSpc>
        <a:spcBef>
          <a:spcPts val="0"/>
        </a:spcBef>
        <a:buNone/>
        <a:defRPr sz="4400" kern="1200">
          <a:solidFill>
            <a:schemeClr val="tx1"/>
          </a:solidFill>
          <a:latin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</a:defRPr>
      </a:lvl1pPr>
      <a:lvl2pPr marL="685800" indent="-228600" algn="l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</a:defRPr>
      </a:lvl2pPr>
      <a:lvl3pPr marL="1143000" indent="-228600" algn="l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</a:defRPr>
      </a:lvl3pPr>
      <a:lvl4pPr marL="16002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4pPr>
      <a:lvl5pPr marL="20574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5pPr>
      <a:lvl6pPr marL="25146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6pPr>
      <a:lvl7pPr marL="29718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7pPr>
      <a:lvl8pPr marL="34290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8pPr>
      <a:lvl9pPr marL="38862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9pPr>
    </p:bodyStyle>
    <p:otherStyle>
      <a:lvl1pPr marL="0" algn="l">
        <a:defRPr sz="1800" kern="1200">
          <a:solidFill>
            <a:schemeClr val="tx1"/>
          </a:solidFill>
          <a:latin typeface="+mn-lt"/>
        </a:defRPr>
      </a:lvl1pPr>
      <a:lvl2pPr marL="457200" algn="l">
        <a:defRPr sz="1800" kern="1200">
          <a:solidFill>
            <a:schemeClr val="tx1"/>
          </a:solidFill>
          <a:latin typeface="+mn-lt"/>
        </a:defRPr>
      </a:lvl2pPr>
      <a:lvl3pPr marL="914400" algn="l">
        <a:defRPr sz="1800" kern="1200">
          <a:solidFill>
            <a:schemeClr val="tx1"/>
          </a:solidFill>
          <a:latin typeface="+mn-lt"/>
        </a:defRPr>
      </a:lvl3pPr>
      <a:lvl4pPr marL="1371600" algn="l">
        <a:defRPr sz="1800" kern="1200">
          <a:solidFill>
            <a:schemeClr val="tx1"/>
          </a:solidFill>
          <a:latin typeface="+mn-lt"/>
        </a:defRPr>
      </a:lvl4pPr>
      <a:lvl5pPr marL="1828800" algn="l">
        <a:defRPr sz="1800" kern="1200">
          <a:solidFill>
            <a:schemeClr val="tx1"/>
          </a:solidFill>
          <a:latin typeface="+mn-lt"/>
        </a:defRPr>
      </a:lvl5pPr>
      <a:lvl6pPr marL="2286000" algn="l">
        <a:defRPr sz="1800" kern="1200">
          <a:solidFill>
            <a:schemeClr val="tx1"/>
          </a:solidFill>
          <a:latin typeface="+mn-lt"/>
        </a:defRPr>
      </a:lvl6pPr>
      <a:lvl7pPr marL="2743200" algn="l">
        <a:defRPr sz="1800" kern="1200">
          <a:solidFill>
            <a:schemeClr val="tx1"/>
          </a:solidFill>
          <a:latin typeface="+mn-lt"/>
        </a:defRPr>
      </a:lvl7pPr>
      <a:lvl8pPr marL="3200400" algn="l">
        <a:defRPr sz="1800" kern="1200">
          <a:solidFill>
            <a:schemeClr val="tx1"/>
          </a:solidFill>
          <a:latin typeface="+mn-lt"/>
        </a:defRPr>
      </a:lvl8pPr>
      <a:lvl9pPr marL="3657600" algn="l">
        <a:defRPr sz="1800" kern="1200">
          <a:solidFill>
            <a:schemeClr val="tx1"/>
          </a:solidFill>
          <a:latin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ox:b9f29acd-4be0-5345-b388-cb314338fa55">
    <p:bg>
      <p:bgPr>
        <a:solidFill>
          <a:srgbClr val="0F3D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ox:ed7bca33-ef98-5495-a223-3046476144b1"/>
          <p:cNvSpPr/>
          <p:nvPr/>
        </p:nvSpPr>
        <p:spPr>
          <a:xfrm>
            <a:off x="914400" y="2171700"/>
            <a:ext cx="1143000" cy="76200"/>
          </a:xfrm>
          <a:prstGeom prst="roundRect">
            <a:avLst/>
          </a:prstGeom>
          <a:solidFill>
            <a:srgbClr val="F2B134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59" name="ox:79cf7543-79e8-551e-992b-1899612ea818"/>
          <p:cNvSpPr txBox="1"/>
          <p:nvPr/>
        </p:nvSpPr>
        <p:spPr>
          <a:xfrm>
            <a:off x="914400" y="2381250"/>
            <a:ext cx="9525000" cy="8286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sz="5400" b="1">
                <a:solidFill>
                  <a:srgbClr val="FFFFFF"/>
                </a:solidFill>
                <a:latin typeface="Inter"/>
              </a:rPr>
              <a:t>Q3 Board Pack</a:t>
            </a:r>
          </a:p>
        </p:txBody>
      </p:sp>
      <p:sp>
        <p:nvSpPr>
          <p:cNvPr id="260" name="ox:b73a0317-a900-5035-8af5-41d456a76424"/>
          <p:cNvSpPr txBox="1"/>
          <p:nvPr/>
        </p:nvSpPr>
        <p:spPr>
          <a:xfrm>
            <a:off x="914400" y="3429000"/>
            <a:ext cx="9525000" cy="3238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sz="2100">
                <a:solidFill>
                  <a:srgbClr val="FFFFFF"/>
                </a:solidFill>
                <a:latin typeface="Inter"/>
              </a:rPr>
              <a:t>Finance &amp; operations ·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ox:aa108021-6b33-5ae3-a0db-12b17e9592c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ox:9b9cc37c-57d8-5294-896e-305ec1757883"/>
          <p:cNvSpPr txBox="1"/>
          <p:nvPr/>
        </p:nvSpPr>
        <p:spPr>
          <a:xfrm>
            <a:off x="762000" y="533400"/>
            <a:ext cx="37909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sz="3300" b="1">
                <a:solidFill>
                  <a:srgbClr val="1D2433"/>
                </a:solidFill>
                <a:latin typeface="Inter"/>
              </a:rPr>
              <a:t>Revenue by region</a:t>
            </a:r>
          </a:p>
        </p:txBody>
      </p:sp>
      <p:graphicFrame>
        <p:nvGraphicFramePr>
          <p:cNvPr id="263" name="ox:987b7602-b694-53d2-b390-57f9d8ca3870"/>
          <p:cNvGraphicFramePr>
            <a:graphicFrameLocks noGrp="1"/>
          </p:cNvGraphicFramePr>
          <p:nvPr/>
        </p:nvGraphicFramePr>
        <p:xfrm>
          <a:off x="762000" y="1619250"/>
          <a:ext cx="4953000" cy="1943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6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76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85775">
                <a:tc>
                  <a:txBody>
                    <a:bodyPr/>
                    <a:lstStyle/>
                    <a:p>
                      <a:pPr algn="l"/>
                      <a:r>
                        <a:rPr sz="1650" b="1">
                          <a:latin typeface="Inter"/>
                        </a:rPr>
                        <a:t>Region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650" b="1">
                          <a:latin typeface="Inter"/>
                        </a:rPr>
                        <a:t>Revenue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5775">
                <a:tc>
                  <a:txBody>
                    <a:bodyPr/>
                    <a:lstStyle/>
                    <a:p>
                      <a:pPr algn="l"/>
                      <a:r>
                        <a:rPr sz="1650">
                          <a:latin typeface="Inter"/>
                        </a:rPr>
                        <a:t>Adelaide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650">
                          <a:latin typeface="Inter"/>
                        </a:rPr>
                        <a:t>$412,000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5775">
                <a:tc>
                  <a:txBody>
                    <a:bodyPr/>
                    <a:lstStyle/>
                    <a:p>
                      <a:pPr algn="l"/>
                      <a:r>
                        <a:rPr sz="1650">
                          <a:latin typeface="Inter"/>
                        </a:rPr>
                        <a:t>Hong Kong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650">
                          <a:latin typeface="Inter"/>
                        </a:rPr>
                        <a:t>$541,500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5775">
                <a:tc>
                  <a:txBody>
                    <a:bodyPr/>
                    <a:lstStyle/>
                    <a:p>
                      <a:pPr algn="l"/>
                      <a:r>
                        <a:rPr sz="1650">
                          <a:latin typeface="Inter"/>
                        </a:rPr>
                        <a:t>Singapore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650">
                          <a:latin typeface="Inter"/>
                        </a:rPr>
                        <a:t>$297,000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264" name="ox:23ddaa1c-1c51-5324-8860-64ed833aa77f"/>
          <p:cNvGraphicFramePr>
            <a:graphicFrameLocks noGrp="1"/>
          </p:cNvGraphicFramePr>
          <p:nvPr/>
        </p:nvGraphicFramePr>
        <p:xfrm>
          <a:off x="6477000" y="1619250"/>
          <a:ext cx="4953000" cy="2857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265" name="ox:1f3d316c-9724-5069-b314-93f167a63dbb"/>
          <p:cNvSpPr txBox="1"/>
          <p:nvPr/>
        </p:nvSpPr>
        <p:spPr>
          <a:xfrm>
            <a:off x="762000" y="5143500"/>
            <a:ext cx="10668000" cy="2952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sz="1950">
                <a:solidFill>
                  <a:srgbClr val="1D2433"/>
                </a:solidFill>
                <a:latin typeface="Inter"/>
              </a:rPr>
              <a:t>Total revenue: </a:t>
            </a:r>
            <a:r>
              <a:rPr sz="1950" b="1">
                <a:solidFill>
                  <a:srgbClr val="1D2433"/>
                </a:solidFill>
                <a:latin typeface="Inter"/>
              </a:rPr>
              <a:t>$1,250,500</a:t>
            </a:r>
            <a:r>
              <a:rPr sz="1950">
                <a:solidFill>
                  <a:srgbClr val="1D2433"/>
                </a:solidFill>
                <a:latin typeface="Inter"/>
              </a:rPr>
              <a:t> across 3 regions.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ox:ad37e397-d236-5002-af7e-3682fbb922af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ox:5b80e2c4-11e9-59eb-ba28-26372e59d240"/>
          <p:cNvSpPr txBox="1"/>
          <p:nvPr/>
        </p:nvSpPr>
        <p:spPr>
          <a:xfrm>
            <a:off x="762000" y="533400"/>
            <a:ext cx="2195227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sz="3300" b="1">
                <a:solidFill>
                  <a:srgbClr val="1D2433"/>
                </a:solidFill>
                <a:latin typeface="Inter"/>
              </a:rPr>
              <a:t>Next steps</a:t>
            </a:r>
          </a:p>
        </p:txBody>
      </p:sp>
      <p:sp>
        <p:nvSpPr>
          <p:cNvPr id="268" name="ox:fe7234e8-6154-5a93-9672-691664c55a4c"/>
          <p:cNvSpPr txBox="1"/>
          <p:nvPr/>
        </p:nvSpPr>
        <p:spPr>
          <a:xfrm>
            <a:off x="762000" y="1619250"/>
            <a:ext cx="6415945" cy="17067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228600" indent="-228600" algn="l">
              <a:buChar char="•"/>
            </a:pPr>
            <a:r>
              <a:rPr sz="2100">
                <a:solidFill>
                  <a:srgbClr val="1D2433"/>
                </a:solidFill>
                <a:latin typeface="Inter"/>
              </a:rPr>
              <a:t>Close Hong Kong FX restatement</a:t>
            </a:r>
          </a:p>
          <a:p>
            <a:pPr marL="228600" indent="-228600" algn="l">
              <a:buChar char="•"/>
            </a:pPr>
            <a:r>
              <a:rPr sz="2100">
                <a:solidFill>
                  <a:srgbClr val="1D2433"/>
                </a:solidFill>
                <a:latin typeface="Inter"/>
              </a:rPr>
              <a:t>Singapore pipeline review</a:t>
            </a:r>
          </a:p>
          <a:p>
            <a:pPr marL="457200" lvl="1" indent="-228600" algn="l">
              <a:buChar char="•"/>
            </a:pPr>
            <a:r>
              <a:rPr sz="2100">
                <a:solidFill>
                  <a:srgbClr val="1D2433"/>
                </a:solidFill>
                <a:latin typeface="Inter"/>
              </a:rPr>
              <a:t>Two enterprise renewals in November</a:t>
            </a:r>
          </a:p>
          <a:p>
            <a:pPr marL="228600" indent="-228600" algn="l">
              <a:buChar char="•"/>
            </a:pPr>
            <a:r>
              <a:rPr sz="2100" i="1">
                <a:solidFill>
                  <a:srgbClr val="1D2433"/>
                </a:solidFill>
                <a:latin typeface="Inter"/>
              </a:rPr>
              <a:t>Board decision:</a:t>
            </a:r>
            <a:r>
              <a:rPr sz="2100">
                <a:solidFill>
                  <a:srgbClr val="1D2433"/>
                </a:solidFill>
                <a:latin typeface="Inter"/>
              </a:rPr>
              <a:t> Adelaide expansion</a:t>
            </a:r>
          </a:p>
        </p:txBody>
      </p:sp>
      <p:pic>
        <p:nvPicPr>
          <p:cNvPr id="269" name="ox:3dd13f43-6346-534e-a04d-fb73fa6e8967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620000" y="1809750"/>
            <a:ext cx="3429000" cy="1524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/>
        <a:ea typeface=""/>
        <a:cs typeface=""/>
      </a:majorFont>
      <a:minorFont>
        <a:latin typeface="Inter"/>
        <a:ea typeface=""/>
        <a:cs typeface=""/>
      </a:minorFont>
    </a:fontScheme>
    <a:fmtScheme name="DeckCraft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3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lumMod val="105000"/>
                <a:satMod val="103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</a:gradFill>
      </a:fillStyleLst>
      <a:lnStyleLst>
        <a:ln w="9525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76200" dist="38100" dir="5400000" algn="t" rotWithShape="0">
              <a:srgbClr val="000000">
                <a:alpha val="4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lumMod val="102000"/>
                <a:satMod val="103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/>
        <a:ea typeface=""/>
        <a:cs typeface=""/>
      </a:majorFont>
      <a:minorFont>
        <a:latin typeface="Inter"/>
        <a:ea typeface=""/>
        <a:cs typeface=""/>
      </a:minorFont>
    </a:fontScheme>
    <a:fmtScheme name="DeckCraft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3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lumMod val="105000"/>
                <a:satMod val="103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</a:gradFill>
      </a:fillStyleLst>
      <a:lnStyleLst>
        <a:ln w="9525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76200" dist="38100" dir="5400000" algn="t" rotWithShape="0">
              <a:srgbClr val="000000">
                <a:alpha val="4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lumMod val="102000"/>
                <a:satMod val="103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68</Words>
  <Application>Microsoft Macintosh PowerPoint</Application>
  <PresentationFormat>Widescreen</PresentationFormat>
  <Paragraphs>19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Inter</vt:lpstr>
      <vt:lpstr>Arial</vt:lpstr>
      <vt:lpstr>DeckCraft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Q3 Board Pack</dc:title>
  <cp:keywords>oxdeck=2af44a75-c514-5c87-b208-689fa8b15950 oxrevision=4eba5f41451b5c891f7ad2ee</cp:keywords>
  <cp:lastModifiedBy>Milleleaf</cp:lastModifiedBy>
  <cp:revision>1</cp:revision>
  <dcterms:modified xsi:type="dcterms:W3CDTF">2026-10-15T22:23:44Z</dcterms:modified>
</cp:coreProperties>
</file>