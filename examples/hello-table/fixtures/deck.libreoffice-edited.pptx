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slides/slide1.xml" ContentType="application/vnd.openxmlformats-officedocument.presentationml.slide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notesMasterIdLst>
    <p:notesMasterId r:id="rId13"/>
  </p:notesMasterIdLst>
  <p:sldIdLst>
    <p:sldId id="256" r:id="rId14"/>
    <p:sldId id="257" r:id="rId15"/>
    <p:sldId id="258" r:id="rId1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1" sz="1800" spc="-1" strike="noStrike">
                <a:solidFill>
                  <a:srgbClr val="000000"/>
                </a:solidFill>
                <a:latin typeface="Inter"/>
              </a:defRPr>
            </a:pPr>
            <a:r>
              <a:rPr b="1" sz="1800" spc="-1" strike="noStrike">
                <a:solidFill>
                  <a:srgbClr val="000000"/>
                </a:solidFill>
                <a:latin typeface="Inter"/>
              </a:rPr>
              <a:t>Revenue by region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b6a8f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3"/>
                <c:pt idx="0">
                  <c:v>Adelaide</c:v>
                </c:pt>
                <c:pt idx="1">
                  <c:v>Hong Kong</c:v>
                </c:pt>
                <c:pt idx="2">
                  <c:v>Singapore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"/>
                <c:pt idx="0">
                  <c:v>412000</c:v>
                </c:pt>
                <c:pt idx="1">
                  <c:v>541500</c:v>
                </c:pt>
                <c:pt idx="2">
                  <c:v>297000</c:v>
                </c:pt>
              </c:numCache>
            </c:numRef>
          </c:val>
        </c:ser>
        <c:gapWidth val="219"/>
        <c:overlap val="-27"/>
        <c:axId val="77764190"/>
        <c:axId val="83852940"/>
      </c:barChart>
      <c:catAx>
        <c:axId val="7776419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360">
            <a:solidFill>
              <a:srgbClr val="8b8b8b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Inter"/>
              </a:defRPr>
            </a:pPr>
          </a:p>
        </c:txPr>
        <c:crossAx val="83852940"/>
        <c:crosses val="autoZero"/>
        <c:auto val="1"/>
        <c:lblAlgn val="ctr"/>
        <c:lblOffset val="100"/>
        <c:noMultiLvlLbl val="0"/>
      </c:catAx>
      <c:valAx>
        <c:axId val="83852940"/>
        <c:scaling>
          <c:orientation val="minMax"/>
        </c:scaling>
        <c:delete val="0"/>
        <c:axPos val="l"/>
        <c:majorGridlines>
          <c:spPr>
            <a:ln w="9360">
              <a:solidFill>
                <a:srgbClr val="8b8b8b"/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9360">
            <a:solidFill>
              <a:srgbClr val="8b8b8b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Inter"/>
              </a:defRPr>
            </a:pPr>
          </a:p>
        </c:txPr>
        <c:crossAx val="77764190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b="0" sz="1000" spc="-1" strike="noStrike">
              <a:solidFill>
                <a:srgbClr val="000000"/>
              </a:solidFill>
              <a:latin typeface="Inter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62942804-7026-498A-8647-997C033ADE21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sldImg"/>
          </p:nvPr>
        </p:nvSpPr>
        <p:spPr>
          <a:xfrm>
            <a:off x="857160" y="1143000"/>
            <a:ext cx="5143320" cy="3428640"/>
          </a:xfrm>
          <a:prstGeom prst="rect">
            <a:avLst/>
          </a:prstGeom>
          <a:ln w="0">
            <a:noFill/>
          </a:ln>
        </p:spPr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685800" y="4846320"/>
            <a:ext cx="5486040" cy="329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Open with the headline, then hand over to Finance.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5999897-296E-47DC-AC49-F30922F6294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B5CD93D8-8180-49E9-A60C-9CC408EE1DE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C8ABC45C-8B2A-4D56-B702-B9B7C72DAE3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0ADEA61B-F8C4-4619-8549-44E8B5C639A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E863AD0E-2029-476F-9757-6A43DC68A10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3EA1A587-11C8-4039-A1A5-411E87799D7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284E75FA-AE0A-41DD-8BEE-D7696E4A850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3596B41F-FE22-4F72-8C72-16F87AF1F51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AAC05362-800D-4201-B863-3890EB144DA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478F7A05-EAE4-4EFD-B4A9-86C2DA72691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25C90BD3-AE0D-49FE-998F-B0A2EC001E9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523880" y="111744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rmAutofit/>
          </a:bodyPr>
          <a:p>
            <a:pPr indent="0">
              <a:buNone/>
            </a:pPr>
            <a:r>
              <a:rPr b="0" lang="en-US" sz="60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60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FFC9A09-F17B-4FDF-BA8D-BA0B9553A07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762120" y="368280"/>
            <a:ext cx="10667520" cy="1320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62120" y="1828800"/>
            <a:ext cx="10667520" cy="4355640"/>
          </a:xfrm>
          <a:prstGeom prst="rect">
            <a:avLst/>
          </a:prstGeom>
          <a:noFill/>
          <a:ln w="0">
            <a:noFill/>
          </a:ln>
        </p:spPr>
        <p:txBody>
          <a:bodyPr lIns="45000" rIns="45000" tIns="90000" bIns="90000" anchor="t" vert="eaVer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4AB615A-5AF6-4ACE-A03D-DDAF78340C4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724960" y="368280"/>
            <a:ext cx="2704680" cy="5816160"/>
          </a:xfrm>
          <a:prstGeom prst="rect">
            <a:avLst/>
          </a:prstGeom>
          <a:noFill/>
          <a:ln w="0">
            <a:noFill/>
          </a:ln>
        </p:spPr>
        <p:txBody>
          <a:bodyPr lIns="45000" rIns="45000" tIns="90000" bIns="90000" anchor="ctr" vert="eaVert">
            <a:noAutofit/>
          </a:bodyPr>
          <a:p>
            <a:pPr indent="0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762120" y="368280"/>
            <a:ext cx="7772040" cy="5816160"/>
          </a:xfrm>
          <a:prstGeom prst="rect">
            <a:avLst/>
          </a:prstGeom>
          <a:noFill/>
          <a:ln w="0">
            <a:noFill/>
          </a:ln>
        </p:spPr>
        <p:txBody>
          <a:bodyPr lIns="45000" rIns="45000" tIns="90000" bIns="90000" anchor="t" vert="eaVer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A65F90C-BEC5-44CC-970F-B14C4CF3298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762120" y="368280"/>
            <a:ext cx="10667520" cy="1320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762120" y="1828800"/>
            <a:ext cx="10667520" cy="43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06E288C-63E1-4B9D-88C2-9927FD8A7BC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825480" y="1714680"/>
            <a:ext cx="10540800" cy="2857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buNone/>
            </a:pPr>
            <a:r>
              <a:rPr b="0" lang="en-US" sz="60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60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825480" y="4597560"/>
            <a:ext cx="10540800" cy="149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49980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4CE4008-7789-4B37-9954-A2D0285FFF8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762120" y="368280"/>
            <a:ext cx="10667520" cy="1320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762120" y="1828800"/>
            <a:ext cx="5231880" cy="43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6197760" y="1828800"/>
            <a:ext cx="5231880" cy="43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F49039B-31D0-45C2-82AC-540C26E607B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762120" y="368280"/>
            <a:ext cx="10667520" cy="1320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762120" y="1689120"/>
            <a:ext cx="5231880" cy="786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762120" y="2514600"/>
            <a:ext cx="5231880" cy="3669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87480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6197760" y="1689120"/>
            <a:ext cx="5231880" cy="786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6197760" y="2514600"/>
            <a:ext cx="5231880" cy="3669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87480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7F35619-28D9-457F-9DCF-34976631CB0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762120" y="368280"/>
            <a:ext cx="10667520" cy="1320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E9F5CC5-F8B4-44DE-A9E1-8D0564BB79F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8892334-700E-4549-A673-BE9119C2AC7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0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Inte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762120" y="457200"/>
            <a:ext cx="4088880" cy="1599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buNone/>
            </a:pPr>
            <a:r>
              <a:rPr b="0" lang="en-US" sz="32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32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5232240" y="990720"/>
            <a:ext cx="6197400" cy="487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762120" y="2057400"/>
            <a:ext cx="4088880" cy="380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357EEDE-9B40-4F70-96E4-A01A8E8809B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762120" y="457200"/>
            <a:ext cx="4088880" cy="1599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buNone/>
            </a:pPr>
            <a:r>
              <a:rPr b="0" lang="en-US" sz="32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32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5232240" y="990720"/>
            <a:ext cx="6197400" cy="487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762120" y="2057400"/>
            <a:ext cx="4088880" cy="380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AEA7289-540C-4747-A52B-36DCCEFA4B2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3d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mleaf:79cf7543-79e8-551e-992b-1899612ea818"/>
          <p:cNvSpPr/>
          <p:nvPr/>
        </p:nvSpPr>
        <p:spPr>
          <a:xfrm>
            <a:off x="914400" y="2741400"/>
            <a:ext cx="9524520" cy="82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5400" spc="-1" strike="noStrike">
                <a:solidFill>
                  <a:srgbClr val="ffffff"/>
                </a:solidFill>
                <a:latin typeface="Inter"/>
              </a:rPr>
              <a:t>Q3 Board Pack</a:t>
            </a:r>
            <a:endParaRPr b="0" lang="en-US" sz="5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mleaf:b73a0317-a900-5035-8af5-41d456a76424"/>
          <p:cNvSpPr/>
          <p:nvPr/>
        </p:nvSpPr>
        <p:spPr>
          <a:xfrm>
            <a:off x="914400" y="3429000"/>
            <a:ext cx="952452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rgbClr val="ffffff"/>
                </a:solidFill>
                <a:latin typeface="Inter"/>
              </a:rPr>
              <a:t>Finance &amp; operations · October 2026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mleaf:9b9cc37c-57d8-5294-896e-305ec1757883"/>
          <p:cNvSpPr/>
          <p:nvPr/>
        </p:nvSpPr>
        <p:spPr>
          <a:xfrm>
            <a:off x="762120" y="533520"/>
            <a:ext cx="379044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3300" spc="-1" strike="noStrike">
                <a:solidFill>
                  <a:srgbClr val="1d2433"/>
                </a:solidFill>
                <a:latin typeface="Inter"/>
              </a:rPr>
              <a:t>Revenue by region</a:t>
            </a:r>
            <a:endParaRPr b="0" lang="en-US" sz="33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76" name="mleaf:987b7602-b694-53d2-b390-57f9d8ca3870"/>
          <p:cNvGraphicFramePr/>
          <p:nvPr/>
        </p:nvGraphicFramePr>
        <p:xfrm>
          <a:off x="762120" y="1619280"/>
          <a:ext cx="4952520" cy="1942920"/>
        </p:xfrm>
        <a:graphic>
          <a:graphicData uri="http://schemas.openxmlformats.org/drawingml/2006/table">
            <a:tbl>
              <a:tblPr/>
              <a:tblGrid>
                <a:gridCol w="2476440"/>
                <a:gridCol w="2476440"/>
              </a:tblGrid>
              <a:tr h="4856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fffff"/>
                          </a:solidFill>
                          <a:latin typeface="Inter"/>
                        </a:rPr>
                        <a:t>Region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6f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fffff"/>
                          </a:solidFill>
                          <a:latin typeface="Inter"/>
                        </a:rPr>
                        <a:t>Revenue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6fd8"/>
                    </a:solidFill>
                  </a:tcPr>
                </a:tc>
              </a:tr>
              <a:tr h="4856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650" spc="-1" strike="noStrike">
                          <a:solidFill>
                            <a:srgbClr val="000000"/>
                          </a:solidFill>
                          <a:latin typeface="Inter"/>
                        </a:rPr>
                        <a:t>Adelaide</a:t>
                      </a:r>
                      <a:endParaRPr b="0" lang="en-US" sz="16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4f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650" spc="-1" strike="noStrike">
                          <a:solidFill>
                            <a:srgbClr val="000000"/>
                          </a:solidFill>
                          <a:latin typeface="Inter"/>
                        </a:rPr>
                        <a:t>$412,000</a:t>
                      </a:r>
                      <a:endParaRPr b="0" lang="en-US" sz="16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4f0"/>
                    </a:solidFill>
                  </a:tcPr>
                </a:tc>
              </a:tr>
              <a:tr h="4856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650" spc="-1" strike="noStrike">
                          <a:solidFill>
                            <a:srgbClr val="000000"/>
                          </a:solidFill>
                          <a:latin typeface="Inter"/>
                        </a:rPr>
                        <a:t>Hong Kong</a:t>
                      </a:r>
                      <a:endParaRPr b="0" lang="en-US" sz="16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bf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650" spc="-1" strike="noStrike">
                          <a:solidFill>
                            <a:srgbClr val="000000"/>
                          </a:solidFill>
                          <a:latin typeface="Inter"/>
                        </a:rPr>
                        <a:t>$999</a:t>
                      </a:r>
                      <a:endParaRPr b="0" lang="en-US" sz="16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bf7"/>
                    </a:solidFill>
                  </a:tcPr>
                </a:tc>
              </a:tr>
              <a:tr h="4856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650" spc="-1" strike="noStrike">
                          <a:solidFill>
                            <a:srgbClr val="000000"/>
                          </a:solidFill>
                          <a:latin typeface="Inter"/>
                        </a:rPr>
                        <a:t>Singapore</a:t>
                      </a:r>
                      <a:endParaRPr b="0" lang="en-US" sz="16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4f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650" spc="-1" strike="noStrike">
                          <a:solidFill>
                            <a:srgbClr val="000000"/>
                          </a:solidFill>
                          <a:latin typeface="Inter"/>
                        </a:rPr>
                        <a:t>$297,000</a:t>
                      </a:r>
                      <a:endParaRPr b="0" lang="en-US" sz="16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4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7" name="mleaf:23ddaa1c-1c51-5324-8860-64ed833aa77f"/>
          <p:cNvGraphicFramePr/>
          <p:nvPr/>
        </p:nvGraphicFramePr>
        <p:xfrm>
          <a:off x="6477120" y="1619280"/>
          <a:ext cx="4952520" cy="2857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78" name="mleaf:1f3d316c-9724-5069-b314-93f167a63dbb"/>
          <p:cNvSpPr/>
          <p:nvPr/>
        </p:nvSpPr>
        <p:spPr>
          <a:xfrm>
            <a:off x="762120" y="5143680"/>
            <a:ext cx="1066752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950" spc="-1" strike="noStrike">
                <a:solidFill>
                  <a:srgbClr val="1d2433"/>
                </a:solidFill>
                <a:latin typeface="Inter"/>
              </a:rPr>
              <a:t>Group revenue: </a:t>
            </a:r>
            <a:r>
              <a:rPr b="1" lang="en-US" sz="1950" spc="-1" strike="noStrike">
                <a:solidFill>
                  <a:srgbClr val="1d2433"/>
                </a:solidFill>
                <a:latin typeface="Inter"/>
              </a:rPr>
              <a:t>$1,250,500</a:t>
            </a:r>
            <a:r>
              <a:rPr b="0" lang="en-US" sz="1950" spc="-1" strike="noStrike">
                <a:solidFill>
                  <a:srgbClr val="1d2433"/>
                </a:solidFill>
                <a:latin typeface="Inter"/>
              </a:rPr>
              <a:t> across 3 regions.</a:t>
            </a:r>
            <a:endParaRPr b="0" lang="en-US" sz="1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mleaf:5b80e2c4-11e9-59eb-ba28-26372e59d240"/>
          <p:cNvSpPr/>
          <p:nvPr/>
        </p:nvSpPr>
        <p:spPr>
          <a:xfrm>
            <a:off x="762120" y="533520"/>
            <a:ext cx="219492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3300" spc="-1" strike="noStrike">
                <a:solidFill>
                  <a:srgbClr val="1d2433"/>
                </a:solidFill>
                <a:latin typeface="Inter"/>
              </a:rPr>
              <a:t>Next steps</a:t>
            </a:r>
            <a:endParaRPr b="0" lang="en-US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mleaf:fe7234e8-6154-5a93-9672-691664c55a4c"/>
          <p:cNvSpPr/>
          <p:nvPr/>
        </p:nvSpPr>
        <p:spPr>
          <a:xfrm>
            <a:off x="762120" y="1619280"/>
            <a:ext cx="6415560" cy="170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228600" indent="-228600">
              <a:lnSpc>
                <a:spcPct val="100000"/>
              </a:lnSpc>
              <a:buClr>
                <a:srgbClr val="1d2433"/>
              </a:buClr>
              <a:buFont typeface="Symbol" charset="2"/>
              <a:buChar char=""/>
            </a:pPr>
            <a:r>
              <a:rPr b="0" lang="en-US" sz="2100" spc="-1" strike="noStrike">
                <a:solidFill>
                  <a:srgbClr val="1d2433"/>
                </a:solidFill>
                <a:latin typeface="Inter"/>
              </a:rPr>
              <a:t>Close Hong Kong FX restatement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buClr>
                <a:srgbClr val="1d2433"/>
              </a:buClr>
              <a:buFont typeface="Symbol" charset="2"/>
              <a:buChar char=""/>
            </a:pPr>
            <a:r>
              <a:rPr b="0" lang="en-US" sz="2100" spc="-1" strike="noStrike">
                <a:solidFill>
                  <a:srgbClr val="1d2433"/>
                </a:solidFill>
                <a:latin typeface="Inter"/>
              </a:rPr>
              <a:t>Singapore pipeline review (two deals)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  <a:p>
            <a:pPr lvl="1" marL="457200" indent="-228600">
              <a:lnSpc>
                <a:spcPct val="100000"/>
              </a:lnSpc>
              <a:buClr>
                <a:srgbClr val="1d2433"/>
              </a:buClr>
              <a:buFont typeface="Symbol" charset="2"/>
              <a:buChar char=""/>
            </a:pPr>
            <a:r>
              <a:rPr b="0" lang="en-US" sz="2100" spc="-1" strike="noStrike">
                <a:solidFill>
                  <a:srgbClr val="1d2433"/>
                </a:solidFill>
                <a:latin typeface="Inter"/>
              </a:rPr>
              <a:t>Two enterprise renewals in November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buClr>
                <a:srgbClr val="1d2433"/>
              </a:buClr>
              <a:buFont typeface="Symbol" charset="2"/>
              <a:buChar char=""/>
            </a:pPr>
            <a:r>
              <a:rPr b="0" i="1" lang="en-US" sz="2100" spc="-1" strike="noStrike">
                <a:solidFill>
                  <a:srgbClr val="1d2433"/>
                </a:solidFill>
                <a:latin typeface="Inter"/>
              </a:rPr>
              <a:t>Board decision:</a:t>
            </a:r>
            <a:r>
              <a:rPr b="0" lang="en-US" sz="2100" spc="-1" strike="noStrike">
                <a:solidFill>
                  <a:srgbClr val="1d2433"/>
                </a:solidFill>
                <a:latin typeface="Inter"/>
              </a:rPr>
              <a:t> Adelaide expansion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1" name="mleaf:3dd13f43-6346-534e-a04d-fb73fa6e8967" descr=""/>
          <p:cNvPicPr/>
          <p:nvPr/>
        </p:nvPicPr>
        <p:blipFill>
          <a:blip r:embed="rId1"/>
          <a:stretch/>
        </p:blipFill>
        <p:spPr>
          <a:xfrm>
            <a:off x="7620120" y="1809720"/>
            <a:ext cx="3428640" cy="1523520"/>
          </a:xfrm>
          <a:prstGeom prst="rect">
            <a:avLst/>
          </a:prstGeom>
          <a:ln w="0">
            <a:noFill/>
          </a:ln>
        </p:spPr>
      </p:pic>
      <p:sp>
        <p:nvSpPr>
          <p:cNvPr id="82" name=""/>
          <p:cNvSpPr txBox="1"/>
          <p:nvPr/>
        </p:nvSpPr>
        <p:spPr>
          <a:xfrm>
            <a:off x="720000" y="5400000"/>
            <a:ext cx="4320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Owner: Finance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cp:keywords>mleafdeck=2af44a75-c514-5c87-b208-689fa8b15950 mleafrevision=65b7519003f8701bd2de27af</cp:keywords>
  <dc:language>en-US</dc:language>
  <cp:lastModifiedBy/>
  <dcterms:modified xsi:type="dcterms:W3CDTF">2026-10-23T00:38:57Z</dcterms:modified>
  <cp:revision>1</cp:revision>
  <dc:subject/>
  <dc:title>Q3 Board Pack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</vt:r8>
  </property>
  <property fmtid="{D5CDD505-2E9C-101B-9397-08002B2CF9AE}" pid="3" name="Slides">
    <vt:r8>3</vt:r8>
  </property>
</Properties>
</file>