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1800" spc="-1" strike="noStrike">
                <a:solidFill>
                  <a:srgbClr val="000000"/>
                </a:solidFill>
                <a:latin typeface="Inter"/>
              </a:defRPr>
            </a:pPr>
            <a:r>
              <a:rPr b="1" sz="1800" spc="-1" strike="noStrike">
                <a:solidFill>
                  <a:srgbClr val="000000"/>
                </a:solidFill>
                <a:latin typeface="Inter"/>
              </a:rPr>
              <a:t>Revenue by region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</c:ser>
        <c:gapWidth val="219"/>
        <c:overlap val="-27"/>
        <c:axId val="34423833"/>
        <c:axId val="87998422"/>
      </c:barChart>
      <c:catAx>
        <c:axId val="344238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87998422"/>
        <c:crosses val="autoZero"/>
        <c:auto val="1"/>
        <c:lblAlgn val="ctr"/>
        <c:lblOffset val="100"/>
        <c:noMultiLvlLbl val="0"/>
      </c:catAx>
      <c:valAx>
        <c:axId val="87998422"/>
        <c:scaling>
          <c:orientation val="minMax"/>
        </c:scaling>
        <c:delete val="0"/>
        <c:axPos val="l"/>
        <c:majorGridlines>
          <c:spPr>
            <a:ln w="9360">
              <a:solidFill>
                <a:srgbClr val="8b8b8b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34423833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Inter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15BE534-0055-4D17-B5C7-BC38E707F89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with the headline, then hand over to Finance.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A85874A-7236-4B50-B541-2C8E82692F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125CEA1-A703-4A0C-B21D-7C3B76AFB6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5B4EF0A-4560-46C5-8242-4CBFEF4A77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77FA5C7-66B1-4ABD-A5DF-729DB1661E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9F18F7C-111A-46CA-956B-F2B94FF2E5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F7915D9-6EFC-4D89-B11D-01FF9D857D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00EE193-7494-433C-BD74-4F905F9B8D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11A6C37-0274-4982-A80E-23FA3910B8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B188C08-649B-4D8E-B34E-E429DCDC2A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62EDFBF-5251-486F-82C3-D957722FC5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A3F1085-6BD1-46A7-9AA6-639252BD70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17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C8C7141-5B85-4C32-8DD8-61A4ED24BA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2004C06-132E-4F14-8DB7-C00C83E437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8280"/>
            <a:ext cx="270468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2120" y="368280"/>
            <a:ext cx="777204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3B1E761-F691-4477-A0E4-41F812BBC22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53496A-BB04-49F9-AE46-DC336ED1E2D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5480" y="1714680"/>
            <a:ext cx="10540800" cy="285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25480" y="4597560"/>
            <a:ext cx="10540800" cy="14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499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DB6661-5047-470E-B488-1F38477188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355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9776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355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514DB5-8A46-44CD-895D-2E3E219F613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6212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76212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105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9776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9776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105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A76B7B-451C-47FA-98E8-5AD1C8FC8E3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521B0B4-A424-4229-99F3-55764B8DBEA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57BB02C-1EAC-4BB3-A59C-1692A3B1571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4E60F1D-52BC-4752-B88F-E5CE967E3F0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F2A96D9-9222-487C-AC7C-60858EB68EB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3d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ox:79cf7543-79e8-551e-992b-1899612ea818"/>
          <p:cNvSpPr/>
          <p:nvPr/>
        </p:nvSpPr>
        <p:spPr>
          <a:xfrm>
            <a:off x="914400" y="2741400"/>
            <a:ext cx="9524520" cy="8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Inter"/>
              </a:rPr>
              <a:t>Q3 Board Pack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ox:b73a0317-a900-5035-8af5-41d456a76424"/>
          <p:cNvSpPr/>
          <p:nvPr/>
        </p:nvSpPr>
        <p:spPr>
          <a:xfrm>
            <a:off x="914400" y="3429000"/>
            <a:ext cx="9524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ffffff"/>
                </a:solidFill>
                <a:latin typeface="Inter"/>
              </a:rPr>
              <a:t>Finance &amp; operations · October 2026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ox:9b9cc37c-57d8-5294-896e-305ec1757883"/>
          <p:cNvSpPr/>
          <p:nvPr/>
        </p:nvSpPr>
        <p:spPr>
          <a:xfrm>
            <a:off x="762120" y="533520"/>
            <a:ext cx="379044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Revenue by region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6" name="ox:987b7602-b694-53d2-b390-57f9d8ca3870"/>
          <p:cNvGraphicFramePr/>
          <p:nvPr/>
        </p:nvGraphicFramePr>
        <p:xfrm>
          <a:off x="762120" y="1619280"/>
          <a:ext cx="4952520" cy="1942920"/>
        </p:xfrm>
        <a:graphic>
          <a:graphicData uri="http://schemas.openxmlformats.org/drawingml/2006/table">
            <a:tbl>
              <a:tblPr/>
              <a:tblGrid>
                <a:gridCol w="2476440"/>
                <a:gridCol w="2476440"/>
              </a:tblGrid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Region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Revenue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Adelaide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$412,000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Hong Kong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$999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Singapore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$297,000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7" name="ox:23ddaa1c-1c51-5324-8860-64ed833aa77f"/>
          <p:cNvGraphicFramePr/>
          <p:nvPr/>
        </p:nvGraphicFramePr>
        <p:xfrm>
          <a:off x="6477120" y="1619280"/>
          <a:ext cx="4952520" cy="285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8" name="ox:1f3d316c-9724-5069-b314-93f167a63dbb"/>
          <p:cNvSpPr/>
          <p:nvPr/>
        </p:nvSpPr>
        <p:spPr>
          <a:xfrm>
            <a:off x="762120" y="5143680"/>
            <a:ext cx="106675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Group revenue: </a:t>
            </a:r>
            <a:r>
              <a:rPr b="1" lang="en-US" sz="1950" spc="-1" strike="noStrike">
                <a:solidFill>
                  <a:srgbClr val="1d2433"/>
                </a:solidFill>
                <a:latin typeface="Inter"/>
              </a:rPr>
              <a:t>$1,250,500</a:t>
            </a: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 across 3 regions.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x:5b80e2c4-11e9-59eb-ba28-26372e59d240"/>
          <p:cNvSpPr/>
          <p:nvPr/>
        </p:nvSpPr>
        <p:spPr>
          <a:xfrm>
            <a:off x="762120" y="533520"/>
            <a:ext cx="21949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Next steps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ox:fe7234e8-6154-5a93-9672-691664c55a4c"/>
          <p:cNvSpPr/>
          <p:nvPr/>
        </p:nvSpPr>
        <p:spPr>
          <a:xfrm>
            <a:off x="762120" y="1619280"/>
            <a:ext cx="6415560" cy="170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Close Hong Kong FX restatement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Singapore pipeline review (two deals)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Two enterprise renewals in November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i="1" lang="en-US" sz="2100" spc="-1" strike="noStrike">
                <a:solidFill>
                  <a:srgbClr val="1d2433"/>
                </a:solidFill>
                <a:latin typeface="Inter"/>
              </a:rPr>
              <a:t>Board decision:</a:t>
            </a: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 Adelaide expansion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ox:3dd13f43-6346-534e-a04d-fb73fa6e8967" descr=""/>
          <p:cNvPicPr/>
          <p:nvPr/>
        </p:nvPicPr>
        <p:blipFill>
          <a:blip r:embed="rId1"/>
          <a:stretch/>
        </p:blipFill>
        <p:spPr>
          <a:xfrm>
            <a:off x="7620120" y="1809720"/>
            <a:ext cx="3428640" cy="1523520"/>
          </a:xfrm>
          <a:prstGeom prst="rect">
            <a:avLst/>
          </a:prstGeom>
          <a:ln w="0">
            <a:noFill/>
          </a:ln>
        </p:spPr>
      </p:pic>
      <p:sp>
        <p:nvSpPr>
          <p:cNvPr id="82" name=""/>
          <p:cNvSpPr txBox="1"/>
          <p:nvPr/>
        </p:nvSpPr>
        <p:spPr>
          <a:xfrm>
            <a:off x="720000" y="5400000"/>
            <a:ext cx="432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Owner: Finance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keywords>oxdeck=2af44a75-c514-5c87-b208-689fa8b15950 oxrevision=4eba5f41451b5c891f7ad2ee</cp:keywords>
  <dc:language>en-US</dc:language>
  <cp:lastModifiedBy/>
  <dcterms:modified xsi:type="dcterms:W3CDTF">2026-10-15T19:44:22Z</dcterms:modified>
  <cp:revision>1</cp:revision>
  <dc:subject/>
  <dc:title>Q3 Board Pack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Slides">
    <vt:r8>3</vt:r8>
  </property>
</Properties>
</file>