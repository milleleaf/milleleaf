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800" spc="-1" strike="noStrike">
                <a:solidFill>
                  <a:srgbClr val="000000"/>
                </a:solidFill>
                <a:latin typeface="Inter"/>
              </a:defRPr>
            </a:pPr>
            <a:r>
              <a:rPr b="1" sz="1800" spc="-1" strike="noStrike">
                <a:solidFill>
                  <a:srgbClr val="000000"/>
                </a:solidFill>
                <a:latin typeface="Inter"/>
              </a:rPr>
              <a:t>Revenue by region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</c:ser>
        <c:gapWidth val="219"/>
        <c:overlap val="-27"/>
        <c:axId val="34423833"/>
        <c:axId val="87998422"/>
      </c:barChart>
      <c:catAx>
        <c:axId val="344238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Inter"/>
              </a:defRPr>
            </a:pPr>
          </a:p>
        </c:txPr>
        <c:crossAx val="87998422"/>
        <c:crosses val="autoZero"/>
        <c:auto val="1"/>
        <c:lblAlgn val="ctr"/>
        <c:lblOffset val="100"/>
        <c:noMultiLvlLbl val="0"/>
      </c:catAx>
      <c:valAx>
        <c:axId val="87998422"/>
        <c:scaling>
          <c:orientation val="minMax"/>
        </c:scaling>
        <c:delete val="0"/>
        <c:axPos val="l"/>
        <c:majorGridlines>
          <c:spPr>
            <a:ln w="9360">
              <a:solidFill>
                <a:srgbClr val="8b8b8b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Inter"/>
              </a:defRPr>
            </a:pPr>
          </a:p>
        </c:txPr>
        <c:crossAx val="3442383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Inter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5BE534-0055-4D17-B5C7-BC38E707F8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 with the headline, then hand over to Finance.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85874A-7236-4B50-B541-2C8E82692F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25CEA1-A703-4A0C-B21D-7C3B76AFB6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B4EF0A-4560-46C5-8242-4CBFEF4A77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77FA5C7-66B1-4ABD-A5DF-729DB1661E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9F18F7C-111A-46CA-956B-F2B94FF2E5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F7915D9-6EFC-4D89-B11D-01FF9D857D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00EE193-7494-433C-BD74-4F905F9B8D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11A6C37-0274-4982-A80E-23FA3910B8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188C08-649B-4D8E-B34E-E429DCDC2A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62EDFBF-5251-486F-82C3-D957722FC5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A3F1085-6BD1-46A7-9AA6-639252BD70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174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8C7141-5B85-4C32-8DD8-61A4ED24BA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004C06-132E-4F14-8DB7-C00C83E437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8280"/>
            <a:ext cx="270468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62120" y="368280"/>
            <a:ext cx="777204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B1E761-F691-4477-A0E4-41F812BBC2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53496A-BB04-49F9-AE46-DC336ED1E2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5480" y="1714680"/>
            <a:ext cx="1054080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25480" y="4597560"/>
            <a:ext cx="10540800" cy="149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998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DB6661-5047-470E-B488-1F38477188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55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9776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55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514DB5-8A46-44CD-895D-2E3E219F61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6212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6212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05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9776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9776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05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A76B7B-451C-47FA-98E8-5AD1C8FC8E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21B0B4-A424-4229-99F3-55764B8DBE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7BB02C-1EAC-4BB3-A59C-1692A3B157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E60F1D-52BC-4752-B88F-E5CE967E3F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2A96D9-9222-487C-AC7C-60858EB68EB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mleaf:79cf7543-79e8-551e-992b-1899612ea818"/>
          <p:cNvSpPr/>
          <p:nvPr/>
        </p:nvSpPr>
        <p:spPr>
          <a:xfrm>
            <a:off x="914400" y="2741400"/>
            <a:ext cx="952452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Inter"/>
              </a:rPr>
              <a:t>Q3 Board Pack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mleaf:b73a0317-a900-5035-8af5-41d456a76424"/>
          <p:cNvSpPr/>
          <p:nvPr/>
        </p:nvSpPr>
        <p:spPr>
          <a:xfrm>
            <a:off x="914400" y="3429000"/>
            <a:ext cx="9524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Finance &amp; operations · October 2026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mleaf:9b9cc37c-57d8-5294-896e-305ec1757883"/>
          <p:cNvSpPr/>
          <p:nvPr/>
        </p:nvSpPr>
        <p:spPr>
          <a:xfrm>
            <a:off x="762120" y="533520"/>
            <a:ext cx="3790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300" spc="-1" strike="noStrike">
                <a:solidFill>
                  <a:srgbClr val="1d2433"/>
                </a:solidFill>
                <a:latin typeface="Inter"/>
              </a:rPr>
              <a:t>Revenue by region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6" name="mleaf:987b7602-b694-53d2-b390-57f9d8ca3870"/>
          <p:cNvGraphicFramePr/>
          <p:nvPr/>
        </p:nvGraphicFramePr>
        <p:xfrm>
          <a:off x="762120" y="1619280"/>
          <a:ext cx="4952520" cy="1942920"/>
        </p:xfrm>
        <a:graphic>
          <a:graphicData uri="http://schemas.openxmlformats.org/drawingml/2006/table">
            <a:tbl>
              <a:tblPr/>
              <a:tblGrid>
                <a:gridCol w="2476440"/>
                <a:gridCol w="2476440"/>
              </a:tblGrid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Inter"/>
                        </a:rPr>
                        <a:t>Region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Inter"/>
                        </a:rPr>
                        <a:t>Revenue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d8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Adelaide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$412,000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Hong Kong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$999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</a:tr>
              <a:tr h="48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Singapore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000000"/>
                          </a:solidFill>
                          <a:latin typeface="Inter"/>
                        </a:rPr>
                        <a:t>$297,000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mleaf:23ddaa1c-1c51-5324-8860-64ed833aa77f"/>
          <p:cNvGraphicFramePr/>
          <p:nvPr/>
        </p:nvGraphicFramePr>
        <p:xfrm>
          <a:off x="6477120" y="1619280"/>
          <a:ext cx="4952520" cy="285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8" name="mleaf:1f3d316c-9724-5069-b314-93f167a63dbb"/>
          <p:cNvSpPr/>
          <p:nvPr/>
        </p:nvSpPr>
        <p:spPr>
          <a:xfrm>
            <a:off x="762120" y="5143680"/>
            <a:ext cx="10667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950" spc="-1" strike="noStrike">
                <a:solidFill>
                  <a:srgbClr val="1d2433"/>
                </a:solidFill>
                <a:latin typeface="Inter"/>
              </a:rPr>
              <a:t>Group revenue: </a:t>
            </a:r>
            <a:r>
              <a:rPr b="1" lang="en-US" sz="1950" spc="-1" strike="noStrike">
                <a:solidFill>
                  <a:srgbClr val="1d2433"/>
                </a:solidFill>
                <a:latin typeface="Inter"/>
              </a:rPr>
              <a:t>$1,250,500</a:t>
            </a:r>
            <a:r>
              <a:rPr b="0" lang="en-US" sz="1950" spc="-1" strike="noStrike">
                <a:solidFill>
                  <a:srgbClr val="1d2433"/>
                </a:solidFill>
                <a:latin typeface="Inter"/>
              </a:rPr>
              <a:t> across 3 regions.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mleaf:5b80e2c4-11e9-59eb-ba28-26372e59d240"/>
          <p:cNvSpPr/>
          <p:nvPr/>
        </p:nvSpPr>
        <p:spPr>
          <a:xfrm>
            <a:off x="762120" y="533520"/>
            <a:ext cx="2194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300" spc="-1" strike="noStrike">
                <a:solidFill>
                  <a:srgbClr val="1d2433"/>
                </a:solidFill>
                <a:latin typeface="Inter"/>
              </a:rPr>
              <a:t>Next steps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mleaf:fe7234e8-6154-5a93-9672-691664c55a4c"/>
          <p:cNvSpPr/>
          <p:nvPr/>
        </p:nvSpPr>
        <p:spPr>
          <a:xfrm>
            <a:off x="762120" y="1619280"/>
            <a:ext cx="641556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Close Hong Kong FX restatement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Singapore pipeline review (two deals)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Two enterprise renewals in November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i="1" lang="en-US" sz="2100" spc="-1" strike="noStrike">
                <a:solidFill>
                  <a:srgbClr val="1d2433"/>
                </a:solidFill>
                <a:latin typeface="Inter"/>
              </a:rPr>
              <a:t>Board decision:</a:t>
            </a:r>
            <a:r>
              <a:rPr b="0" lang="en-US" sz="2100" spc="-1" strike="noStrike">
                <a:solidFill>
                  <a:srgbClr val="1d2433"/>
                </a:solidFill>
                <a:latin typeface="Inter"/>
              </a:rPr>
              <a:t> Adelaide expansion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mleaf:3dd13f43-6346-534e-a04d-fb73fa6e8967" descr=""/>
          <p:cNvPicPr/>
          <p:nvPr/>
        </p:nvPicPr>
        <p:blipFill>
          <a:blip r:embed="rId1"/>
          <a:stretch/>
        </p:blipFill>
        <p:spPr>
          <a:xfrm>
            <a:off x="7620120" y="1809720"/>
            <a:ext cx="3428640" cy="152352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720000" y="5400000"/>
            <a:ext cx="43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Owner: Finance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cp:keywords>mleafdeck=2af44a75-c514-5c87-b208-689fa8b15950 mleafrevision=4eba5f41451b5c891f7ad2ee</cp:keywords>
  <dc:language>en-US</dc:language>
  <cp:lastModifiedBy/>
  <dcterms:modified xsi:type="dcterms:W3CDTF">2026-10-15T19:44:22Z</dcterms:modified>
  <cp:revision>1</cp:revision>
  <dc:subject/>
  <dc:title>Q3 Board Pack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Slides">
    <vt:r8>3</vt:r8>
  </property>
</Properties>
</file>