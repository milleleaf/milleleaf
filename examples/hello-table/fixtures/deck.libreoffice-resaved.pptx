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Inter"/>
              </a:defRPr>
            </a:pPr>
            <a:r>
              <a:rPr b="1" sz="1800" spc="-1" strike="noStrike">
                <a:solidFill>
                  <a:srgbClr val="000000"/>
                </a:solidFill>
                <a:latin typeface="Inter"/>
              </a:rPr>
              <a:t>Revenue by region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</c:ser>
        <c:gapWidth val="219"/>
        <c:overlap val="-27"/>
        <c:axId val="83635416"/>
        <c:axId val="7607736"/>
      </c:barChart>
      <c:catAx>
        <c:axId val="8363541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7607736"/>
        <c:crosses val="autoZero"/>
        <c:auto val="1"/>
        <c:lblAlgn val="ctr"/>
        <c:lblOffset val="100"/>
        <c:noMultiLvlLbl val="0"/>
      </c:catAx>
      <c:valAx>
        <c:axId val="7607736"/>
        <c:scaling>
          <c:orientation val="minMax"/>
        </c:scaling>
        <c:delete val="0"/>
        <c:axPos val="l"/>
        <c:majorGridlines>
          <c:spPr>
            <a:ln w="9360">
              <a:solidFill>
                <a:srgbClr val="8b8b8b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936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Inter"/>
              </a:defRPr>
            </a:pPr>
          </a:p>
        </c:txPr>
        <c:crossAx val="8363541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Inter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ABDEE95-B8FD-451F-9AD1-F31B07802EC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the headline: revenue up across all three regions.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C8AD285-39D2-4178-99B5-EF27A74F8B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0C4920E-B7A9-46CC-B5B8-D595FC2B1F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AC80ED1-DB8B-4216-A800-4733027387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96F00A0-2FBB-43DA-9DCA-954D4CC7AF5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1162753-730C-4800-B2BC-5272980B6F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C8D9CC2-660F-47E1-9B69-4A586E9E36A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1C88843-4BAC-431F-B07F-C8DE17C240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E040AAC-4572-4D36-98A1-F28C24B1AE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AEDCB0F-9701-45F3-9E83-C5D04B0355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0E875B2F-30E6-4B8B-A372-06313C3674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3DF052B-F2A6-43E8-B14E-20E9CB6A88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B8F2FDB-6E07-4715-B5D3-F8DBE0C8FE0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808040-54E5-4B28-85C0-7ED62AE8D5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EF56F88-C56D-4ED9-A802-52C4B69DF2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959DA8-251C-422C-895F-BF19B77EFF9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01F5993-C2A0-46C3-90D5-3A29130E86F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355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9355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BE1013A-3511-4C04-8F93-28BEAEC1850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105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1053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AF1BDA5-5146-4F57-977F-BC5DDD0AC46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483449-14AB-41FB-99D5-3C283242BC8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86D1E0B-04F4-442F-A643-78439877F0B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18FCEB-57E3-453C-9F99-CBA3204F48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E970C0B-6563-407C-BD0E-00839AEDCE4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3d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x:ed7bca33-ef98-5495-a223-3046476144b1"/>
          <p:cNvSpPr/>
          <p:nvPr/>
        </p:nvSpPr>
        <p:spPr>
          <a:xfrm>
            <a:off x="914400" y="2171880"/>
            <a:ext cx="1142640" cy="75960"/>
          </a:xfrm>
          <a:prstGeom prst="roundRect">
            <a:avLst>
              <a:gd name="adj" fmla="val 16667"/>
            </a:avLst>
          </a:prstGeom>
          <a:solidFill>
            <a:srgbClr val="f2b13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3760" bIns="237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ox:79cf7543-79e8-551e-992b-1899612ea818"/>
          <p:cNvSpPr/>
          <p:nvPr/>
        </p:nvSpPr>
        <p:spPr>
          <a:xfrm>
            <a:off x="914400" y="2381400"/>
            <a:ext cx="9524520" cy="82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Inter"/>
              </a:rPr>
              <a:t>Q3 Board Pack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ox:b73a0317-a900-5035-8af5-41d456a76424"/>
          <p:cNvSpPr/>
          <p:nvPr/>
        </p:nvSpPr>
        <p:spPr>
          <a:xfrm>
            <a:off x="914400" y="3429000"/>
            <a:ext cx="952452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2100" spc="-1" strike="noStrike">
                <a:solidFill>
                  <a:srgbClr val="ffffff"/>
                </a:solidFill>
                <a:latin typeface="Inter"/>
              </a:rPr>
              <a:t>Finance &amp; operations · October 2026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ox:9b9cc37c-57d8-5294-896e-305ec1757883"/>
          <p:cNvSpPr/>
          <p:nvPr/>
        </p:nvSpPr>
        <p:spPr>
          <a:xfrm>
            <a:off x="762120" y="533520"/>
            <a:ext cx="379044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Revenue by region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7" name="ox:987b7602-b694-53d2-b390-57f9d8ca3870"/>
          <p:cNvGraphicFramePr/>
          <p:nvPr/>
        </p:nvGraphicFramePr>
        <p:xfrm>
          <a:off x="762120" y="1619280"/>
          <a:ext cx="4952520" cy="1942920"/>
        </p:xfrm>
        <a:graphic>
          <a:graphicData uri="http://schemas.openxmlformats.org/drawingml/2006/table">
            <a:tbl>
              <a:tblPr/>
              <a:tblGrid>
                <a:gridCol w="2476440"/>
                <a:gridCol w="2476440"/>
              </a:tblGrid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Region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1" lang="en-US" sz="1650" spc="-1" strike="noStrike">
                          <a:solidFill>
                            <a:srgbClr val="ffffff"/>
                          </a:solidFill>
                          <a:latin typeface="Inter"/>
                        </a:rPr>
                        <a:t>Revenue</a:t>
                      </a:r>
                      <a:endParaRPr b="0" lang="en-US" sz="16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e6fd8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Adelaide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$412,000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Hong Kong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$541,500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bf7"/>
                    </a:solidFill>
                  </a:tcPr>
                </a:tc>
              </a:tr>
              <a:tr h="485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Singapore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b="0" lang="en-US" sz="1650" spc="-1" strike="noStrike">
                          <a:solidFill>
                            <a:srgbClr val="000000"/>
                          </a:solidFill>
                          <a:latin typeface="Inter"/>
                        </a:rPr>
                        <a:t>$297,000</a:t>
                      </a:r>
                      <a:endParaRPr b="0" lang="en-US" sz="16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d4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8" name="ox:23ddaa1c-1c51-5324-8860-64ed833aa77f"/>
          <p:cNvGraphicFramePr/>
          <p:nvPr/>
        </p:nvGraphicFramePr>
        <p:xfrm>
          <a:off x="6477120" y="1619280"/>
          <a:ext cx="4952520" cy="285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9" name="ox:1f3d316c-9724-5069-b314-93f167a63dbb"/>
          <p:cNvSpPr/>
          <p:nvPr/>
        </p:nvSpPr>
        <p:spPr>
          <a:xfrm>
            <a:off x="762120" y="5143680"/>
            <a:ext cx="1066752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Total revenue: </a:t>
            </a:r>
            <a:r>
              <a:rPr b="1" lang="en-US" sz="1950" spc="-1" strike="noStrike">
                <a:solidFill>
                  <a:srgbClr val="1d2433"/>
                </a:solidFill>
                <a:latin typeface="Inter"/>
              </a:rPr>
              <a:t>$1,250,500</a:t>
            </a:r>
            <a:r>
              <a:rPr b="0" lang="en-US" sz="1950" spc="-1" strike="noStrike">
                <a:solidFill>
                  <a:srgbClr val="1d2433"/>
                </a:solidFill>
                <a:latin typeface="Inter"/>
              </a:rPr>
              <a:t> across 3 regions.</a:t>
            </a:r>
            <a:endParaRPr b="0" lang="en-US" sz="1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ox:5b80e2c4-11e9-59eb-ba28-26372e59d240"/>
          <p:cNvSpPr/>
          <p:nvPr/>
        </p:nvSpPr>
        <p:spPr>
          <a:xfrm>
            <a:off x="762120" y="533520"/>
            <a:ext cx="2194920" cy="5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1" lang="en-US" sz="3300" spc="-1" strike="noStrike">
                <a:solidFill>
                  <a:srgbClr val="1d2433"/>
                </a:solidFill>
                <a:latin typeface="Inter"/>
              </a:rPr>
              <a:t>Next steps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ox:fe7234e8-6154-5a93-9672-691664c55a4c"/>
          <p:cNvSpPr/>
          <p:nvPr/>
        </p:nvSpPr>
        <p:spPr>
          <a:xfrm>
            <a:off x="762120" y="1619280"/>
            <a:ext cx="6415560" cy="170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Close Hong Kong FX restatement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Singapore pipeline review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4572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Two enterprise renewals in November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d2433"/>
              </a:buClr>
              <a:buFont typeface="Symbol" charset="2"/>
              <a:buChar char=""/>
            </a:pPr>
            <a:r>
              <a:rPr b="0" i="1" lang="en-US" sz="2100" spc="-1" strike="noStrike">
                <a:solidFill>
                  <a:srgbClr val="1d2433"/>
                </a:solidFill>
                <a:latin typeface="Inter"/>
              </a:rPr>
              <a:t>Board decision:</a:t>
            </a:r>
            <a:r>
              <a:rPr b="0" lang="en-US" sz="2100" spc="-1" strike="noStrike">
                <a:solidFill>
                  <a:srgbClr val="1d2433"/>
                </a:solidFill>
                <a:latin typeface="Inter"/>
              </a:rPr>
              <a:t> Adelaide expansion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ox:3dd13f43-6346-534e-a04d-fb73fa6e8967" descr=""/>
          <p:cNvPicPr/>
          <p:nvPr/>
        </p:nvPicPr>
        <p:blipFill>
          <a:blip r:embed="rId1"/>
          <a:stretch/>
        </p:blipFill>
        <p:spPr>
          <a:xfrm>
            <a:off x="7620120" y="1809720"/>
            <a:ext cx="3428640" cy="152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oxdeck=2af44a75-c514-5c87-b208-689fa8b15950 oxrevision=4eba5f41451b5c891f7ad2ee</cp:keywords>
  <dc:language>en-US</dc:language>
  <cp:lastModifiedBy/>
  <cp:revision>0</cp:revision>
  <dc:subject/>
  <dc:title>Q3 Board Pack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</vt:r8>
  </property>
  <property fmtid="{D5CDD505-2E9C-101B-9397-08002B2CF9AE}" pid="3" name="Slides">
    <vt:r8>3</vt:r8>
  </property>
</Properties>
</file>