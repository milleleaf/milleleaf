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Inter"/>
              </a:defRPr>
            </a:pPr>
            <a:r>
              <a:rPr b="1" sz="1800" spc="-1" strike="noStrike">
                <a:solidFill>
                  <a:srgbClr val="000000"/>
                </a:solidFill>
                <a:latin typeface="Inter"/>
              </a:rPr>
              <a:t>Revenue by region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</c:ser>
        <c:gapWidth val="219"/>
        <c:overlap val="-27"/>
        <c:axId val="1916532"/>
        <c:axId val="8750026"/>
      </c:barChart>
      <c:catAx>
        <c:axId val="191653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8750026"/>
        <c:crosses val="autoZero"/>
        <c:auto val="1"/>
        <c:lblAlgn val="ctr"/>
        <c:lblOffset val="100"/>
        <c:noMultiLvlLbl val="0"/>
      </c:catAx>
      <c:valAx>
        <c:axId val="8750026"/>
        <c:scaling>
          <c:orientation val="minMax"/>
        </c:scaling>
        <c:delete val="0"/>
        <c:axPos val="l"/>
        <c:majorGridlines>
          <c:spPr>
            <a:ln w="9360">
              <a:solidFill>
                <a:srgbClr val="8b8b8b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191653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Inter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D8ECE24-47FF-4F8B-BC04-926A7EE67FF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the headline: revenue up across all three regions.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E1AB404-D2DF-4F3B-B2DA-3AA34B72A8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DCE59FA-490E-49B9-9750-B0423EF1F3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72879B1-67D2-43C2-BBF2-C9935905E9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AFEB122-C244-4333-89D4-C576E4C1BE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44B4846-4739-4108-838A-E2116D288E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4B3C151-25D6-4F57-8390-8335DE2ACE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DC6DCBA-D9A1-48E5-A645-EBE8DDCB72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7782374-93AE-440A-8350-1A073AF075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F27BF69-0F7F-473A-9C1D-44E019E5BA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19ADC66-102A-415A-A176-1F289D360A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C118E1A-986F-4CF9-BAF1-1A5ED28ED1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FEB82F7-8336-43ED-B74F-47130CD84F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204495-956D-4A92-BC9F-C798A3CE5AD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4D47F55-2FC8-49C2-B084-A37F01F95A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666822-E782-41EA-B78F-39E737765EA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CD4EBED-B5A1-44AD-B2F3-3FDC95830B9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1B0D305-7A26-4E5F-90CB-29BC8F3A02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C61AA2-C59A-4AAD-91FB-2C6A3B4B4E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AAE77B-CE44-41C0-8E86-2F513F3652A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BC1EF5-824F-486F-BA61-C100328789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7E81CF2-E6CA-47D4-9077-C11FF7A9A9A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9EB170B-E418-4A81-900A-640F134FB4B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3d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leaf:ed7bca33-ef98-5495-a223-3046476144b1"/>
          <p:cNvSpPr/>
          <p:nvPr/>
        </p:nvSpPr>
        <p:spPr>
          <a:xfrm>
            <a:off x="914400" y="2171880"/>
            <a:ext cx="1142640" cy="75960"/>
          </a:xfrm>
          <a:prstGeom prst="roundRect">
            <a:avLst>
              <a:gd name="adj" fmla="val 16667"/>
            </a:avLst>
          </a:prstGeom>
          <a:solidFill>
            <a:srgbClr val="f2b1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mleaf:79cf7543-79e8-551e-992b-1899612ea818"/>
          <p:cNvSpPr/>
          <p:nvPr/>
        </p:nvSpPr>
        <p:spPr>
          <a:xfrm>
            <a:off x="914400" y="2381400"/>
            <a:ext cx="952452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Inter"/>
              </a:rPr>
              <a:t>Q3 Board Pack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mleaf:b73a0317-a900-5035-8af5-41d456a76424"/>
          <p:cNvSpPr/>
          <p:nvPr/>
        </p:nvSpPr>
        <p:spPr>
          <a:xfrm>
            <a:off x="914400" y="3429000"/>
            <a:ext cx="9524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ffffff"/>
                </a:solidFill>
                <a:latin typeface="Inter"/>
              </a:rPr>
              <a:t>Finance &amp; operations · October 2026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mleaf:9b9cc37c-57d8-5294-896e-305ec1757883"/>
          <p:cNvSpPr/>
          <p:nvPr/>
        </p:nvSpPr>
        <p:spPr>
          <a:xfrm>
            <a:off x="762120" y="533520"/>
            <a:ext cx="37904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Revenue by region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7" name="mleaf:987b7602-b694-53d2-b390-57f9d8ca3870"/>
          <p:cNvGraphicFramePr/>
          <p:nvPr/>
        </p:nvGraphicFramePr>
        <p:xfrm>
          <a:off x="762120" y="1619280"/>
          <a:ext cx="4952520" cy="1942920"/>
        </p:xfrm>
        <a:graphic>
          <a:graphicData uri="http://schemas.openxmlformats.org/drawingml/2006/table">
            <a:tbl>
              <a:tblPr/>
              <a:tblGrid>
                <a:gridCol w="2476440"/>
                <a:gridCol w="2476440"/>
              </a:tblGrid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Region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Revenue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Adelaide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$412,000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Hong Kong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$541,500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Singapore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$297,000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8" name="mleaf:23ddaa1c-1c51-5324-8860-64ed833aa77f"/>
          <p:cNvGraphicFramePr/>
          <p:nvPr/>
        </p:nvGraphicFramePr>
        <p:xfrm>
          <a:off x="6477120" y="1619280"/>
          <a:ext cx="4952520" cy="285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9" name="mleaf:1f3d316c-9724-5069-b314-93f167a63dbb"/>
          <p:cNvSpPr/>
          <p:nvPr/>
        </p:nvSpPr>
        <p:spPr>
          <a:xfrm>
            <a:off x="762120" y="5143680"/>
            <a:ext cx="106675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Total revenue: </a:t>
            </a:r>
            <a:r>
              <a:rPr b="1" lang="en-US" sz="1950" spc="-1" strike="noStrike">
                <a:solidFill>
                  <a:srgbClr val="1d2433"/>
                </a:solidFill>
                <a:latin typeface="Inter"/>
              </a:rPr>
              <a:t>$1,250,500</a:t>
            </a: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 across 3 regions.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mleaf:5b80e2c4-11e9-59eb-ba28-26372e59d240"/>
          <p:cNvSpPr/>
          <p:nvPr/>
        </p:nvSpPr>
        <p:spPr>
          <a:xfrm>
            <a:off x="762120" y="533520"/>
            <a:ext cx="2194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Next steps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mleaf:fe7234e8-6154-5a93-9672-691664c55a4c"/>
          <p:cNvSpPr/>
          <p:nvPr/>
        </p:nvSpPr>
        <p:spPr>
          <a:xfrm>
            <a:off x="762120" y="1619280"/>
            <a:ext cx="6415560" cy="170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Close Hong Kong FX restatement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Singapore pipeline review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Two enterprise renewals in November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i="1" lang="en-US" sz="2100" spc="-1" strike="noStrike">
                <a:solidFill>
                  <a:srgbClr val="1d2433"/>
                </a:solidFill>
                <a:latin typeface="Inter"/>
              </a:rPr>
              <a:t>Board decision:</a:t>
            </a: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 Adelaide expansion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mleaf:3dd13f43-6346-534e-a04d-fb73fa6e8967" descr=""/>
          <p:cNvPicPr/>
          <p:nvPr/>
        </p:nvPicPr>
        <p:blipFill>
          <a:blip r:embed="rId1"/>
          <a:stretch/>
        </p:blipFill>
        <p:spPr>
          <a:xfrm>
            <a:off x="7620120" y="1809720"/>
            <a:ext cx="3428640" cy="152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mleafdeck=2af44a75-c514-5c87-b208-689fa8b15950 mleafrevision=65b7519003f8701bd2de27af</cp:keywords>
  <dc:language>en-US</dc:language>
  <cp:lastModifiedBy/>
  <cp:revision>0</cp:revision>
  <dc:subject/>
  <dc:title>Q3 Board Pack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Slides">
    <vt:r8>3</vt:r8>
  </property>
</Properties>
</file>